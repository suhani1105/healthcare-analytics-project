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jpg" ContentType="image/jp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9546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Hospital Star Rating </a:t>
            </a:r>
            <a:r>
              <a:rPr dirty="0" spc="-10"/>
              <a:t>Prediction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9546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#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9546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Hospital Star Rating </a:t>
            </a:r>
            <a:r>
              <a:rPr dirty="0" spc="-10"/>
              <a:t>Prediction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9546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#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9546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Hospital Star Rating </a:t>
            </a:r>
            <a:r>
              <a:rPr dirty="0" spc="-10"/>
              <a:t>Prediction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9546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#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9546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Hospital Star Rating </a:t>
            </a:r>
            <a:r>
              <a:rPr dirty="0" spc="-10"/>
              <a:t>Prediction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9546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#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9546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Hospital Star Rating </a:t>
            </a:r>
            <a:r>
              <a:rPr dirty="0" spc="-10"/>
              <a:t>Prediction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9546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#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066800"/>
          </a:xfrm>
          <a:custGeom>
            <a:avLst/>
            <a:gdLst/>
            <a:ahLst/>
            <a:cxnLst/>
            <a:rect l="l" t="t" r="r" b="b"/>
            <a:pathLst>
              <a:path w="12192000" h="1066800">
                <a:moveTo>
                  <a:pt x="12192000" y="0"/>
                </a:moveTo>
                <a:lnTo>
                  <a:pt x="0" y="0"/>
                </a:lnTo>
                <a:lnTo>
                  <a:pt x="0" y="1066800"/>
                </a:lnTo>
                <a:lnTo>
                  <a:pt x="12192000" y="10668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134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066800"/>
            <a:ext cx="12192000" cy="50800"/>
          </a:xfrm>
          <a:custGeom>
            <a:avLst/>
            <a:gdLst/>
            <a:ahLst/>
            <a:cxnLst/>
            <a:rect l="l" t="t" r="r" b="b"/>
            <a:pathLst>
              <a:path w="12192000" h="50800">
                <a:moveTo>
                  <a:pt x="12192000" y="0"/>
                </a:moveTo>
                <a:lnTo>
                  <a:pt x="0" y="0"/>
                </a:lnTo>
                <a:lnTo>
                  <a:pt x="0" y="50800"/>
                </a:lnTo>
                <a:lnTo>
                  <a:pt x="12192000" y="508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A99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6100" y="330200"/>
            <a:ext cx="650557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41900" y="3238500"/>
            <a:ext cx="591820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46100" y="6501730"/>
            <a:ext cx="1755139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49546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Hospital Star Rating </a:t>
            </a:r>
            <a:r>
              <a:rPr dirty="0" spc="-10"/>
              <a:t>Prediction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232133" y="6501730"/>
            <a:ext cx="528320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49546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#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10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134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2000" y="1511300"/>
            <a:ext cx="1143000" cy="76200"/>
          </a:xfrm>
          <a:custGeom>
            <a:avLst/>
            <a:gdLst/>
            <a:ahLst/>
            <a:cxnLst/>
            <a:rect l="l" t="t" r="r" b="b"/>
            <a:pathLst>
              <a:path w="1143000" h="76200">
                <a:moveTo>
                  <a:pt x="1143000" y="0"/>
                </a:moveTo>
                <a:lnTo>
                  <a:pt x="0" y="0"/>
                </a:lnTo>
                <a:lnTo>
                  <a:pt x="0" y="76200"/>
                </a:lnTo>
                <a:lnTo>
                  <a:pt x="1143000" y="76200"/>
                </a:lnTo>
                <a:lnTo>
                  <a:pt x="1143000" y="0"/>
                </a:lnTo>
                <a:close/>
              </a:path>
            </a:pathLst>
          </a:custGeom>
          <a:solidFill>
            <a:srgbClr val="1A99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49300" y="1671320"/>
            <a:ext cx="7882890" cy="1295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600"/>
              </a:lnSpc>
              <a:spcBef>
                <a:spcPts val="100"/>
              </a:spcBef>
            </a:pPr>
            <a:r>
              <a:rPr dirty="0" sz="3800"/>
              <a:t>Predicting Hospital Star </a:t>
            </a:r>
            <a:r>
              <a:rPr dirty="0" sz="3800" spc="-10"/>
              <a:t>Ratings </a:t>
            </a:r>
            <a:r>
              <a:rPr dirty="0" sz="3800"/>
              <a:t>from</a:t>
            </a:r>
            <a:r>
              <a:rPr dirty="0" sz="3800" spc="-20"/>
              <a:t> </a:t>
            </a:r>
            <a:r>
              <a:rPr dirty="0" sz="3800"/>
              <a:t>Quality</a:t>
            </a:r>
            <a:r>
              <a:rPr dirty="0" sz="3800" spc="-15"/>
              <a:t> </a:t>
            </a:r>
            <a:r>
              <a:rPr dirty="0" sz="3800"/>
              <a:t>and</a:t>
            </a:r>
            <a:r>
              <a:rPr dirty="0" sz="3800" spc="-20"/>
              <a:t> </a:t>
            </a:r>
            <a:r>
              <a:rPr dirty="0" sz="3800"/>
              <a:t>Safety</a:t>
            </a:r>
            <a:r>
              <a:rPr dirty="0" sz="3800" spc="-15"/>
              <a:t> </a:t>
            </a:r>
            <a:r>
              <a:rPr dirty="0" sz="3800" spc="-10"/>
              <a:t>Indicators</a:t>
            </a:r>
            <a:endParaRPr sz="3800"/>
          </a:p>
        </p:txBody>
      </p:sp>
      <p:sp>
        <p:nvSpPr>
          <p:cNvPr id="5" name="object 5"/>
          <p:cNvSpPr txBox="1"/>
          <p:nvPr/>
        </p:nvSpPr>
        <p:spPr>
          <a:xfrm>
            <a:off x="749300" y="3632200"/>
            <a:ext cx="83489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8D6E8"/>
                </a:solidFill>
                <a:latin typeface="Arial"/>
                <a:cs typeface="Arial"/>
              </a:rPr>
              <a:t>A leakage-free machine learning pipeline on the CMS Hospital Information </a:t>
            </a:r>
            <a:r>
              <a:rPr dirty="0" sz="1800" spc="-10">
                <a:solidFill>
                  <a:srgbClr val="C8D6E8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300" y="4508500"/>
            <a:ext cx="43872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C8D6E8"/>
                </a:solidFill>
                <a:latin typeface="Arial"/>
                <a:cs typeface="Arial"/>
              </a:rPr>
              <a:t>Logistic Regression</a:t>
            </a:r>
            <a:r>
              <a:rPr dirty="0" sz="1400" spc="385">
                <a:solidFill>
                  <a:srgbClr val="C8D6E8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8D6E8"/>
                </a:solidFill>
                <a:latin typeface="Arial"/>
                <a:cs typeface="Arial"/>
              </a:rPr>
              <a:t>|</a:t>
            </a:r>
            <a:r>
              <a:rPr dirty="0" sz="1400" spc="390">
                <a:solidFill>
                  <a:srgbClr val="C8D6E8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8D6E8"/>
                </a:solidFill>
                <a:latin typeface="Arial"/>
                <a:cs typeface="Arial"/>
              </a:rPr>
              <a:t>Decision Tree</a:t>
            </a:r>
            <a:r>
              <a:rPr dirty="0" sz="1400" spc="385">
                <a:solidFill>
                  <a:srgbClr val="C8D6E8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8D6E8"/>
                </a:solidFill>
                <a:latin typeface="Arial"/>
                <a:cs typeface="Arial"/>
              </a:rPr>
              <a:t>|</a:t>
            </a:r>
            <a:r>
              <a:rPr dirty="0" sz="1400" spc="390">
                <a:solidFill>
                  <a:srgbClr val="C8D6E8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8D6E8"/>
                </a:solidFill>
                <a:latin typeface="Arial"/>
                <a:cs typeface="Arial"/>
              </a:rPr>
              <a:t>Random </a:t>
            </a:r>
            <a:r>
              <a:rPr dirty="0" sz="1400" spc="-10">
                <a:solidFill>
                  <a:srgbClr val="C8D6E8"/>
                </a:solidFill>
                <a:latin typeface="Arial"/>
                <a:cs typeface="Arial"/>
              </a:rPr>
              <a:t>Forest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2000" y="51943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2000" y="0"/>
                </a:moveTo>
                <a:lnTo>
                  <a:pt x="0" y="0"/>
                </a:lnTo>
                <a:lnTo>
                  <a:pt x="0" y="38100"/>
                </a:lnTo>
                <a:lnTo>
                  <a:pt x="762000" y="38100"/>
                </a:lnTo>
                <a:lnTo>
                  <a:pt x="762000" y="0"/>
                </a:lnTo>
                <a:close/>
              </a:path>
            </a:pathLst>
          </a:custGeom>
          <a:solidFill>
            <a:srgbClr val="1A99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49300" y="5285740"/>
            <a:ext cx="3019425" cy="1104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Saniya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Sheikh</a:t>
            </a:r>
            <a:r>
              <a:rPr dirty="0" sz="1600" spc="4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dirty="0" sz="1600" spc="4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23070521127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Suhani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Chafale</a:t>
            </a:r>
            <a:r>
              <a:rPr dirty="0" sz="1600" spc="4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dirty="0" sz="1600" spc="4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23070521154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C8D6E8"/>
                </a:solidFill>
                <a:latin typeface="Arial"/>
                <a:cs typeface="Arial"/>
              </a:rPr>
              <a:t>Project</a:t>
            </a:r>
            <a:r>
              <a:rPr dirty="0" sz="1100" spc="-20">
                <a:solidFill>
                  <a:srgbClr val="C8D6E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C8D6E8"/>
                </a:solidFill>
                <a:latin typeface="Arial"/>
                <a:cs typeface="Arial"/>
              </a:rPr>
              <a:t>report</a:t>
            </a:r>
            <a:r>
              <a:rPr dirty="0" sz="1100" spc="-15">
                <a:solidFill>
                  <a:srgbClr val="C8D6E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C8D6E8"/>
                </a:solidFill>
                <a:latin typeface="Arial"/>
                <a:cs typeface="Arial"/>
              </a:rPr>
              <a:t>presentation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dirty="0" spc="-80"/>
              <a:t> </a:t>
            </a:r>
            <a:r>
              <a:rPr dirty="0"/>
              <a:t>Study</a:t>
            </a:r>
            <a:r>
              <a:rPr dirty="0" spc="-75"/>
              <a:t> </a:t>
            </a:r>
            <a:r>
              <a:rPr dirty="0"/>
              <a:t>Hospital</a:t>
            </a:r>
            <a:r>
              <a:rPr dirty="0" spc="-75"/>
              <a:t> </a:t>
            </a:r>
            <a:r>
              <a:rPr dirty="0"/>
              <a:t>Star</a:t>
            </a:r>
            <a:r>
              <a:rPr dirty="0" spc="-75"/>
              <a:t> </a:t>
            </a:r>
            <a:r>
              <a:rPr dirty="0" spc="-10"/>
              <a:t>Ratings?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850" y="1543050"/>
            <a:ext cx="88900" cy="88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0100" y="1409700"/>
            <a:ext cx="6812280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CMS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Overall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Hospital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Quality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rating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(1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to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5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stars)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summarises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A1F2B"/>
                </a:solidFill>
                <a:latin typeface="Arial"/>
                <a:cs typeface="Arial"/>
              </a:rPr>
              <a:t>57</a:t>
            </a:r>
            <a:r>
              <a:rPr dirty="0" sz="1500" spc="-35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1A1F2B"/>
                </a:solidFill>
                <a:latin typeface="Arial"/>
                <a:cs typeface="Arial"/>
              </a:rPr>
              <a:t>measures </a:t>
            </a:r>
            <a:r>
              <a:rPr dirty="0" sz="1500" b="1">
                <a:solidFill>
                  <a:srgbClr val="1A1F2B"/>
                </a:solidFill>
                <a:latin typeface="Arial"/>
                <a:cs typeface="Arial"/>
              </a:rPr>
              <a:t>across</a:t>
            </a:r>
            <a:r>
              <a:rPr dirty="0" sz="1500" spc="-35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A1F2B"/>
                </a:solidFill>
                <a:latin typeface="Arial"/>
                <a:cs typeface="Arial"/>
              </a:rPr>
              <a:t>7</a:t>
            </a:r>
            <a:r>
              <a:rPr dirty="0" sz="1500" spc="-30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A1F2B"/>
                </a:solidFill>
                <a:latin typeface="Arial"/>
                <a:cs typeface="Arial"/>
              </a:rPr>
              <a:t>domains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: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mortality,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safety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of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care,</a:t>
            </a:r>
            <a:r>
              <a:rPr dirty="0" sz="15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readmission,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patient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A1F2B"/>
                </a:solidFill>
                <a:latin typeface="Arial"/>
                <a:cs typeface="Arial"/>
              </a:rPr>
              <a:t>experience,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effectiveness,</a:t>
            </a:r>
            <a:r>
              <a:rPr dirty="0" sz="1500" spc="-6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timeliness</a:t>
            </a:r>
            <a:r>
              <a:rPr dirty="0" sz="1500" spc="-6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and</a:t>
            </a:r>
            <a:r>
              <a:rPr dirty="0" sz="1500" spc="-6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imaging</a:t>
            </a:r>
            <a:r>
              <a:rPr dirty="0" sz="1500" spc="-6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1A1F2B"/>
                </a:solidFill>
                <a:latin typeface="Arial"/>
                <a:cs typeface="Arial"/>
              </a:rPr>
              <a:t>use.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850" y="2546350"/>
            <a:ext cx="88900" cy="889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00100" y="2413000"/>
            <a:ext cx="592391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Consumers</a:t>
            </a:r>
            <a:r>
              <a:rPr dirty="0" sz="15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use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it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to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choose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hospitals;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providers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use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it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to</a:t>
            </a:r>
            <a:r>
              <a:rPr dirty="0" sz="15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guide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A1F2B"/>
                </a:solidFill>
                <a:latin typeface="Arial"/>
                <a:cs typeface="Arial"/>
              </a:rPr>
              <a:t>quality improvement.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850" y="3282950"/>
            <a:ext cx="88900" cy="889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00100" y="3149600"/>
            <a:ext cx="6802755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Prior</a:t>
            </a:r>
            <a:r>
              <a:rPr dirty="0" sz="15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work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shows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scores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cluster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near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the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middle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of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the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scale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and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are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1A1F2B"/>
                </a:solidFill>
                <a:latin typeface="Arial"/>
                <a:cs typeface="Arial"/>
              </a:rPr>
              <a:t>weak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proxies</a:t>
            </a:r>
            <a:r>
              <a:rPr dirty="0" sz="1500" spc="-4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for</a:t>
            </a:r>
            <a:r>
              <a:rPr dirty="0" sz="1500" spc="-4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A1F2B"/>
                </a:solidFill>
                <a:latin typeface="Arial"/>
                <a:cs typeface="Arial"/>
              </a:rPr>
              <a:t>condition-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specific</a:t>
            </a:r>
            <a:r>
              <a:rPr dirty="0" sz="1500" spc="-4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performance.</a:t>
            </a:r>
            <a:r>
              <a:rPr dirty="0" sz="1500" spc="-4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A1F2B"/>
                </a:solidFill>
                <a:latin typeface="Arial"/>
                <a:cs typeface="Arial"/>
              </a:rPr>
              <a:t>Open-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source</a:t>
            </a:r>
            <a:r>
              <a:rPr dirty="0" sz="1500" spc="-4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tools</a:t>
            </a:r>
            <a:r>
              <a:rPr dirty="0" sz="15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can</a:t>
            </a:r>
            <a:r>
              <a:rPr dirty="0" sz="1500" spc="-4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reproduce</a:t>
            </a:r>
            <a:r>
              <a:rPr dirty="0" sz="1500" spc="-4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1A1F2B"/>
                </a:solidFill>
                <a:latin typeface="Arial"/>
                <a:cs typeface="Arial"/>
              </a:rPr>
              <a:t>the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rating</a:t>
            </a:r>
            <a:r>
              <a:rPr dirty="0" sz="15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from</a:t>
            </a:r>
            <a:r>
              <a:rPr dirty="0" sz="15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exact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measure</a:t>
            </a:r>
            <a:r>
              <a:rPr dirty="0" sz="15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A1F2B"/>
                </a:solidFill>
                <a:latin typeface="Arial"/>
                <a:cs typeface="Arial"/>
              </a:rPr>
              <a:t>data.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28000" y="1524000"/>
            <a:ext cx="3505200" cy="3810000"/>
          </a:xfrm>
          <a:custGeom>
            <a:avLst/>
            <a:gdLst/>
            <a:ahLst/>
            <a:cxnLst/>
            <a:rect l="l" t="t" r="r" b="b"/>
            <a:pathLst>
              <a:path w="3505200" h="3810000">
                <a:moveTo>
                  <a:pt x="33782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3683000"/>
                </a:lnTo>
                <a:lnTo>
                  <a:pt x="9971" y="3732461"/>
                </a:lnTo>
                <a:lnTo>
                  <a:pt x="37172" y="3772827"/>
                </a:lnTo>
                <a:lnTo>
                  <a:pt x="77538" y="3800028"/>
                </a:lnTo>
                <a:lnTo>
                  <a:pt x="127000" y="3810000"/>
                </a:lnTo>
                <a:lnTo>
                  <a:pt x="3378200" y="3810000"/>
                </a:lnTo>
                <a:lnTo>
                  <a:pt x="3427661" y="3800028"/>
                </a:lnTo>
                <a:lnTo>
                  <a:pt x="3468027" y="3772827"/>
                </a:lnTo>
                <a:lnTo>
                  <a:pt x="3495228" y="3732461"/>
                </a:lnTo>
                <a:lnTo>
                  <a:pt x="3505200" y="3683000"/>
                </a:lnTo>
                <a:lnTo>
                  <a:pt x="3505200" y="127000"/>
                </a:lnTo>
                <a:lnTo>
                  <a:pt x="3495228" y="77538"/>
                </a:lnTo>
                <a:lnTo>
                  <a:pt x="3468027" y="37172"/>
                </a:lnTo>
                <a:lnTo>
                  <a:pt x="3427661" y="9971"/>
                </a:lnTo>
                <a:lnTo>
                  <a:pt x="3378200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369300" y="1689100"/>
            <a:ext cx="184403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1345B"/>
                </a:solidFill>
                <a:latin typeface="Arial"/>
                <a:cs typeface="Arial"/>
              </a:rPr>
              <a:t>Research </a:t>
            </a:r>
            <a:r>
              <a:rPr dirty="0" sz="1600" spc="-10" b="1">
                <a:solidFill>
                  <a:srgbClr val="11345B"/>
                </a:solidFill>
                <a:latin typeface="Arial"/>
                <a:cs typeface="Arial"/>
              </a:rPr>
              <a:t>question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69300" y="2108200"/>
            <a:ext cx="2905125" cy="1358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How</a:t>
            </a:r>
            <a:r>
              <a:rPr dirty="0" sz="15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much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signal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do</a:t>
            </a:r>
            <a:r>
              <a:rPr dirty="0" sz="150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1A1F2B"/>
                </a:solidFill>
                <a:latin typeface="Arial"/>
                <a:cs typeface="Arial"/>
              </a:rPr>
              <a:t>coarse </a:t>
            </a:r>
            <a:r>
              <a:rPr dirty="0" sz="1500" b="1">
                <a:solidFill>
                  <a:srgbClr val="1A1F2B"/>
                </a:solidFill>
                <a:latin typeface="Arial"/>
                <a:cs typeface="Arial"/>
              </a:rPr>
              <a:t>national-comparison </a:t>
            </a:r>
            <a:r>
              <a:rPr dirty="0" sz="1500" spc="-10" b="1">
                <a:solidFill>
                  <a:srgbClr val="1A1F2B"/>
                </a:solidFill>
                <a:latin typeface="Arial"/>
                <a:cs typeface="Arial"/>
              </a:rPr>
              <a:t>categories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(above</a:t>
            </a:r>
            <a:r>
              <a:rPr dirty="0" sz="150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/</a:t>
            </a:r>
            <a:r>
              <a:rPr dirty="0" sz="150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same</a:t>
            </a:r>
            <a:r>
              <a:rPr dirty="0" sz="1500" spc="-2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/</a:t>
            </a:r>
            <a:r>
              <a:rPr dirty="0" sz="150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below</a:t>
            </a:r>
            <a:r>
              <a:rPr dirty="0" sz="1500" spc="-2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A1F2B"/>
                </a:solidFill>
                <a:latin typeface="Arial"/>
                <a:cs typeface="Arial"/>
              </a:rPr>
              <a:t>average)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a</a:t>
            </a:r>
            <a:r>
              <a:rPr dirty="0" sz="15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few</a:t>
            </a:r>
            <a:r>
              <a:rPr dirty="0" sz="15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hospital</a:t>
            </a:r>
            <a:r>
              <a:rPr dirty="0" sz="15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attributes</a:t>
            </a:r>
            <a:r>
              <a:rPr dirty="0" sz="15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A1F2B"/>
                </a:solidFill>
                <a:latin typeface="Arial"/>
                <a:cs typeface="Arial"/>
              </a:rPr>
              <a:t>carry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about</a:t>
            </a:r>
            <a:r>
              <a:rPr dirty="0" sz="1500" spc="-2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the</a:t>
            </a:r>
            <a:r>
              <a:rPr dirty="0" sz="1500" spc="-2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star</a:t>
            </a:r>
            <a:r>
              <a:rPr dirty="0" sz="1500" spc="-2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A1F2B"/>
                </a:solidFill>
                <a:latin typeface="Arial"/>
                <a:cs typeface="Arial"/>
              </a:rPr>
              <a:t>rating?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69300" y="3683000"/>
            <a:ext cx="11912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A998A"/>
                </a:solidFill>
                <a:latin typeface="Arial"/>
                <a:cs typeface="Arial"/>
              </a:rPr>
              <a:t>Our </a:t>
            </a:r>
            <a:r>
              <a:rPr dirty="0" sz="1400" spc="-10" b="1">
                <a:solidFill>
                  <a:srgbClr val="1A998A"/>
                </a:solidFill>
                <a:latin typeface="Arial"/>
                <a:cs typeface="Arial"/>
              </a:rPr>
              <a:t>approach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69300" y="4069079"/>
            <a:ext cx="255841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Compare three classifiers, engineer </a:t>
            </a:r>
            <a:r>
              <a:rPr dirty="0" sz="1200" spc="-50">
                <a:solidFill>
                  <a:srgbClr val="495467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composite quality-safety score, </a:t>
            </a:r>
            <a:r>
              <a:rPr dirty="0" sz="1200" spc="-25">
                <a:solidFill>
                  <a:srgbClr val="495467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evaluate with per-class </a:t>
            </a:r>
            <a:r>
              <a:rPr dirty="0" sz="1200" spc="-10">
                <a:solidFill>
                  <a:srgbClr val="495467"/>
                </a:solidFill>
                <a:latin typeface="Arial"/>
                <a:cs typeface="Arial"/>
              </a:rPr>
              <a:t>metrics.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Hospital Star Rating </a:t>
            </a:r>
            <a:r>
              <a:rPr dirty="0" spc="-10"/>
              <a:t>Prediction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10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Dataset</a:t>
            </a:r>
            <a:r>
              <a:rPr dirty="0" spc="-80"/>
              <a:t> </a:t>
            </a:r>
            <a:r>
              <a:rPr dirty="0"/>
              <a:t>and</a:t>
            </a:r>
            <a:r>
              <a:rPr dirty="0" spc="-75"/>
              <a:t> </a:t>
            </a:r>
            <a:r>
              <a:rPr dirty="0" spc="-10"/>
              <a:t>Cleaning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850" y="1504950"/>
            <a:ext cx="88900" cy="88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850" y="2114550"/>
            <a:ext cx="88900" cy="88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850" y="2724150"/>
            <a:ext cx="88900" cy="88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850" y="3092450"/>
            <a:ext cx="88900" cy="889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850" y="3702050"/>
            <a:ext cx="88900" cy="88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0100" y="1381760"/>
            <a:ext cx="5233035" cy="294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3185">
              <a:lnSpc>
                <a:spcPct val="113100"/>
              </a:lnSpc>
              <a:spcBef>
                <a:spcPts val="100"/>
              </a:spcBef>
            </a:pPr>
            <a:r>
              <a:rPr dirty="0" sz="1400" b="1">
                <a:solidFill>
                  <a:srgbClr val="1A1F2B"/>
                </a:solidFill>
                <a:latin typeface="Arial"/>
                <a:cs typeface="Arial"/>
              </a:rPr>
              <a:t>Source: </a:t>
            </a: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Hospital Information dataset (Kaggle): 4,812 records, </a:t>
            </a:r>
            <a:r>
              <a:rPr dirty="0" sz="1400" spc="-25">
                <a:solidFill>
                  <a:srgbClr val="1A1F2B"/>
                </a:solidFill>
                <a:latin typeface="Arial"/>
                <a:cs typeface="Arial"/>
              </a:rPr>
              <a:t>29 </a:t>
            </a:r>
            <a:r>
              <a:rPr dirty="0" sz="1400" spc="-10">
                <a:solidFill>
                  <a:srgbClr val="1A1F2B"/>
                </a:solidFill>
                <a:latin typeface="Arial"/>
                <a:cs typeface="Arial"/>
              </a:rPr>
              <a:t>columns.</a:t>
            </a:r>
            <a:endParaRPr sz="1400">
              <a:latin typeface="Arial"/>
              <a:cs typeface="Arial"/>
            </a:endParaRPr>
          </a:p>
          <a:p>
            <a:pPr marL="12700" marR="241935">
              <a:lnSpc>
                <a:spcPct val="113100"/>
              </a:lnSpc>
              <a:spcBef>
                <a:spcPts val="1000"/>
              </a:spcBef>
            </a:pPr>
            <a:r>
              <a:rPr dirty="0" sz="1400" b="1">
                <a:solidFill>
                  <a:srgbClr val="1A1F2B"/>
                </a:solidFill>
                <a:latin typeface="Arial"/>
                <a:cs typeface="Arial"/>
              </a:rPr>
              <a:t>Target: </a:t>
            </a: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overall rating 1 to 5. Records without a rating </a:t>
            </a:r>
            <a:r>
              <a:rPr dirty="0" sz="1400" spc="-10">
                <a:solidFill>
                  <a:srgbClr val="1A1F2B"/>
                </a:solidFill>
                <a:latin typeface="Arial"/>
                <a:cs typeface="Arial"/>
              </a:rPr>
              <a:t>removed, </a:t>
            </a: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leaving </a:t>
            </a:r>
            <a:r>
              <a:rPr dirty="0" sz="1400" b="1">
                <a:solidFill>
                  <a:srgbClr val="1A1F2B"/>
                </a:solidFill>
                <a:latin typeface="Arial"/>
                <a:cs typeface="Arial"/>
              </a:rPr>
              <a:t>3,567 </a:t>
            </a:r>
            <a:r>
              <a:rPr dirty="0" sz="1400" spc="-10" b="1">
                <a:solidFill>
                  <a:srgbClr val="1A1F2B"/>
                </a:solidFill>
                <a:latin typeface="Arial"/>
                <a:cs typeface="Arial"/>
              </a:rPr>
              <a:t>hospitals</a:t>
            </a:r>
            <a:r>
              <a:rPr dirty="0" sz="1400" spc="-10">
                <a:solidFill>
                  <a:srgbClr val="1A1F2B"/>
                </a:solidFill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Footnote columns (55-79% empty) </a:t>
            </a:r>
            <a:r>
              <a:rPr dirty="0" sz="1400" spc="-10">
                <a:solidFill>
                  <a:srgbClr val="1A1F2B"/>
                </a:solidFill>
                <a:latin typeface="Arial"/>
                <a:cs typeface="Arial"/>
              </a:rPr>
              <a:t>dropped.</a:t>
            </a:r>
            <a:endParaRPr sz="1400">
              <a:latin typeface="Arial"/>
              <a:cs typeface="Arial"/>
            </a:endParaRPr>
          </a:p>
          <a:p>
            <a:pPr marL="12700" marR="409575">
              <a:lnSpc>
                <a:spcPct val="113100"/>
              </a:lnSpc>
              <a:spcBef>
                <a:spcPts val="1000"/>
              </a:spcBef>
            </a:pP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EHR</a:t>
            </a:r>
            <a:r>
              <a:rPr dirty="0" sz="1400" spc="-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flag</a:t>
            </a:r>
            <a:r>
              <a:rPr dirty="0" sz="1400" spc="-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has a</a:t>
            </a:r>
            <a:r>
              <a:rPr dirty="0" sz="1400" spc="-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single value</a:t>
            </a:r>
            <a:r>
              <a:rPr dirty="0" sz="1400" spc="-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(true), so</a:t>
            </a:r>
            <a:r>
              <a:rPr dirty="0" sz="1400" spc="-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it has</a:t>
            </a:r>
            <a:r>
              <a:rPr dirty="0" sz="1400" spc="-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no </a:t>
            </a:r>
            <a:r>
              <a:rPr dirty="0" sz="1400" spc="-10">
                <a:solidFill>
                  <a:srgbClr val="1A1F2B"/>
                </a:solidFill>
                <a:latin typeface="Arial"/>
                <a:cs typeface="Arial"/>
              </a:rPr>
              <a:t>discriminating power.</a:t>
            </a:r>
            <a:endParaRPr sz="1400">
              <a:latin typeface="Arial"/>
              <a:cs typeface="Arial"/>
            </a:endParaRPr>
          </a:p>
          <a:p>
            <a:pPr algn="just" marL="12700" marR="5080">
              <a:lnSpc>
                <a:spcPct val="113100"/>
              </a:lnSpc>
              <a:spcBef>
                <a:spcPts val="1000"/>
              </a:spcBef>
            </a:pP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Heavily skewed toward </a:t>
            </a:r>
            <a:r>
              <a:rPr dirty="0" sz="1400" b="1">
                <a:solidFill>
                  <a:srgbClr val="1A1F2B"/>
                </a:solidFill>
                <a:latin typeface="Arial"/>
                <a:cs typeface="Arial"/>
              </a:rPr>
              <a:t>3 stars (49.4%)</a:t>
            </a: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; only 107 one-star and </a:t>
            </a:r>
            <a:r>
              <a:rPr dirty="0" sz="1400" spc="-25">
                <a:solidFill>
                  <a:srgbClr val="1A1F2B"/>
                </a:solidFill>
                <a:latin typeface="Arial"/>
                <a:cs typeface="Arial"/>
              </a:rPr>
              <a:t>82 </a:t>
            </a: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five-star</a:t>
            </a:r>
            <a:r>
              <a:rPr dirty="0" sz="1400" spc="-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hospitals,</a:t>
            </a:r>
            <a:r>
              <a:rPr dirty="0" sz="1400" spc="-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so</a:t>
            </a:r>
            <a:r>
              <a:rPr dirty="0" sz="1400" spc="-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class</a:t>
            </a:r>
            <a:r>
              <a:rPr dirty="0" sz="1400" spc="-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weighting</a:t>
            </a:r>
            <a:r>
              <a:rPr dirty="0" sz="1400" spc="-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per-class</a:t>
            </a:r>
            <a:r>
              <a:rPr dirty="0" sz="1400" spc="-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A1F2B"/>
                </a:solidFill>
                <a:latin typeface="Arial"/>
                <a:cs typeface="Arial"/>
              </a:rPr>
              <a:t>evaluation</a:t>
            </a:r>
            <a:r>
              <a:rPr dirty="0" sz="1400" spc="-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A1F2B"/>
                </a:solidFill>
                <a:latin typeface="Arial"/>
                <a:cs typeface="Arial"/>
              </a:rPr>
              <a:t>are </a:t>
            </a:r>
            <a:r>
              <a:rPr dirty="0" sz="1400" spc="-10">
                <a:solidFill>
                  <a:srgbClr val="1A1F2B"/>
                </a:solidFill>
                <a:latin typeface="Arial"/>
                <a:cs typeface="Arial"/>
              </a:rPr>
              <a:t>needed.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34638" y="1991701"/>
            <a:ext cx="5005753" cy="315424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663040" y="5435600"/>
            <a:ext cx="27082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solidFill>
                  <a:srgbClr val="495467"/>
                </a:solidFill>
                <a:latin typeface="Arial"/>
                <a:cs typeface="Arial"/>
              </a:rPr>
              <a:t>Class</a:t>
            </a:r>
            <a:r>
              <a:rPr dirty="0" sz="1100" spc="-25" i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95467"/>
                </a:solidFill>
                <a:latin typeface="Arial"/>
                <a:cs typeface="Arial"/>
              </a:rPr>
              <a:t>distribution</a:t>
            </a:r>
            <a:r>
              <a:rPr dirty="0" sz="1100" spc="-20" i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95467"/>
                </a:solidFill>
                <a:latin typeface="Arial"/>
                <a:cs typeface="Arial"/>
              </a:rPr>
              <a:t>after</a:t>
            </a:r>
            <a:r>
              <a:rPr dirty="0" sz="1100" spc="-25" i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95467"/>
                </a:solidFill>
                <a:latin typeface="Arial"/>
                <a:cs typeface="Arial"/>
              </a:rPr>
              <a:t>cleaning</a:t>
            </a:r>
            <a:r>
              <a:rPr dirty="0" sz="1100" spc="-20" i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95467"/>
                </a:solidFill>
                <a:latin typeface="Arial"/>
                <a:cs typeface="Arial"/>
              </a:rPr>
              <a:t>(N</a:t>
            </a:r>
            <a:r>
              <a:rPr dirty="0" sz="1100" spc="-25" i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95467"/>
                </a:solidFill>
                <a:latin typeface="Arial"/>
                <a:cs typeface="Arial"/>
              </a:rPr>
              <a:t>=</a:t>
            </a:r>
            <a:r>
              <a:rPr dirty="0" sz="1100" spc="-20" i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95467"/>
                </a:solidFill>
                <a:latin typeface="Arial"/>
                <a:cs typeface="Arial"/>
              </a:rPr>
              <a:t>3,567)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Hospital Star Rating </a:t>
            </a:r>
            <a:r>
              <a:rPr dirty="0" spc="-10"/>
              <a:t>Prediction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10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Methodology</a:t>
            </a:r>
            <a:r>
              <a:rPr dirty="0" spc="-110"/>
              <a:t> </a:t>
            </a:r>
            <a:r>
              <a:rPr dirty="0"/>
              <a:t>and</a:t>
            </a:r>
            <a:r>
              <a:rPr dirty="0" spc="-110"/>
              <a:t> </a:t>
            </a:r>
            <a:r>
              <a:rPr dirty="0"/>
              <a:t>Feature</a:t>
            </a:r>
            <a:r>
              <a:rPr dirty="0" spc="-110"/>
              <a:t> </a:t>
            </a:r>
            <a:r>
              <a:rPr dirty="0" spc="-10"/>
              <a:t>Engineering</a:t>
            </a:r>
          </a:p>
        </p:txBody>
      </p:sp>
      <p:sp>
        <p:nvSpPr>
          <p:cNvPr id="3" name="object 3"/>
          <p:cNvSpPr/>
          <p:nvPr/>
        </p:nvSpPr>
        <p:spPr>
          <a:xfrm>
            <a:off x="558800" y="1358900"/>
            <a:ext cx="1676400" cy="736600"/>
          </a:xfrm>
          <a:custGeom>
            <a:avLst/>
            <a:gdLst/>
            <a:ahLst/>
            <a:cxnLst/>
            <a:rect l="l" t="t" r="r" b="b"/>
            <a:pathLst>
              <a:path w="1676400" h="736600">
                <a:moveTo>
                  <a:pt x="15748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635000"/>
                </a:lnTo>
                <a:lnTo>
                  <a:pt x="7976" y="674569"/>
                </a:lnTo>
                <a:lnTo>
                  <a:pt x="29738" y="706861"/>
                </a:lnTo>
                <a:lnTo>
                  <a:pt x="62030" y="728623"/>
                </a:lnTo>
                <a:lnTo>
                  <a:pt x="101600" y="736600"/>
                </a:lnTo>
                <a:lnTo>
                  <a:pt x="1574800" y="736600"/>
                </a:lnTo>
                <a:lnTo>
                  <a:pt x="1614369" y="728623"/>
                </a:lnTo>
                <a:lnTo>
                  <a:pt x="1646661" y="706861"/>
                </a:lnTo>
                <a:lnTo>
                  <a:pt x="1668423" y="674569"/>
                </a:lnTo>
                <a:lnTo>
                  <a:pt x="1676400" y="635000"/>
                </a:lnTo>
                <a:lnTo>
                  <a:pt x="1676400" y="101600"/>
                </a:lnTo>
                <a:lnTo>
                  <a:pt x="1668423" y="62030"/>
                </a:lnTo>
                <a:lnTo>
                  <a:pt x="1646661" y="29738"/>
                </a:lnTo>
                <a:lnTo>
                  <a:pt x="1614369" y="7976"/>
                </a:lnTo>
                <a:lnTo>
                  <a:pt x="1574800" y="0"/>
                </a:lnTo>
                <a:close/>
              </a:path>
            </a:pathLst>
          </a:custGeom>
          <a:solidFill>
            <a:srgbClr val="1134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65968" y="1491100"/>
            <a:ext cx="1062355" cy="46609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HospInfo.csv</a:t>
            </a:r>
            <a:endParaRPr sz="1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4,812</a:t>
            </a:r>
            <a:r>
              <a:rPr dirty="0" sz="10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"/>
                <a:cs typeface="Arial"/>
              </a:rPr>
              <a:t>records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0600" y="1587500"/>
            <a:ext cx="14414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 b="1">
                <a:solidFill>
                  <a:srgbClr val="495467"/>
                </a:solidFill>
                <a:latin typeface="Arial"/>
                <a:cs typeface="Arial"/>
              </a:rPr>
              <a:t>&gt;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63800" y="1358900"/>
            <a:ext cx="1676400" cy="736600"/>
          </a:xfrm>
          <a:custGeom>
            <a:avLst/>
            <a:gdLst/>
            <a:ahLst/>
            <a:cxnLst/>
            <a:rect l="l" t="t" r="r" b="b"/>
            <a:pathLst>
              <a:path w="1676400" h="736600">
                <a:moveTo>
                  <a:pt x="15748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635000"/>
                </a:lnTo>
                <a:lnTo>
                  <a:pt x="7976" y="674569"/>
                </a:lnTo>
                <a:lnTo>
                  <a:pt x="29738" y="706861"/>
                </a:lnTo>
                <a:lnTo>
                  <a:pt x="62030" y="728623"/>
                </a:lnTo>
                <a:lnTo>
                  <a:pt x="101600" y="736600"/>
                </a:lnTo>
                <a:lnTo>
                  <a:pt x="1574800" y="736600"/>
                </a:lnTo>
                <a:lnTo>
                  <a:pt x="1614369" y="728623"/>
                </a:lnTo>
                <a:lnTo>
                  <a:pt x="1646661" y="706861"/>
                </a:lnTo>
                <a:lnTo>
                  <a:pt x="1668423" y="674569"/>
                </a:lnTo>
                <a:lnTo>
                  <a:pt x="1676400" y="635000"/>
                </a:lnTo>
                <a:lnTo>
                  <a:pt x="1676400" y="101600"/>
                </a:lnTo>
                <a:lnTo>
                  <a:pt x="1668423" y="62030"/>
                </a:lnTo>
                <a:lnTo>
                  <a:pt x="1646661" y="29738"/>
                </a:lnTo>
                <a:lnTo>
                  <a:pt x="1614369" y="7976"/>
                </a:lnTo>
                <a:lnTo>
                  <a:pt x="1574800" y="0"/>
                </a:lnTo>
                <a:close/>
              </a:path>
            </a:pathLst>
          </a:custGeom>
          <a:solidFill>
            <a:srgbClr val="1A99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940691" y="1491100"/>
            <a:ext cx="722630" cy="46609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Cleaning</a:t>
            </a:r>
            <a:endParaRPr sz="13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290"/>
              </a:spcBef>
            </a:pP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3,567</a:t>
            </a:r>
            <a:r>
              <a:rPr dirty="0" sz="10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"/>
                <a:cs typeface="Arial"/>
              </a:rPr>
              <a:t>rated</a:t>
            </a:r>
            <a:endParaRPr sz="1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65600" y="1587500"/>
            <a:ext cx="14414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 b="1">
                <a:solidFill>
                  <a:srgbClr val="495467"/>
                </a:solidFill>
                <a:latin typeface="Arial"/>
                <a:cs typeface="Arial"/>
              </a:rPr>
              <a:t>&gt;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68800" y="1358900"/>
            <a:ext cx="1676400" cy="736600"/>
          </a:xfrm>
          <a:custGeom>
            <a:avLst/>
            <a:gdLst/>
            <a:ahLst/>
            <a:cxnLst/>
            <a:rect l="l" t="t" r="r" b="b"/>
            <a:pathLst>
              <a:path w="1676400" h="736600">
                <a:moveTo>
                  <a:pt x="15748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635000"/>
                </a:lnTo>
                <a:lnTo>
                  <a:pt x="7976" y="674569"/>
                </a:lnTo>
                <a:lnTo>
                  <a:pt x="29738" y="706861"/>
                </a:lnTo>
                <a:lnTo>
                  <a:pt x="62030" y="728623"/>
                </a:lnTo>
                <a:lnTo>
                  <a:pt x="101600" y="736600"/>
                </a:lnTo>
                <a:lnTo>
                  <a:pt x="1574800" y="736600"/>
                </a:lnTo>
                <a:lnTo>
                  <a:pt x="1614369" y="728623"/>
                </a:lnTo>
                <a:lnTo>
                  <a:pt x="1646661" y="706861"/>
                </a:lnTo>
                <a:lnTo>
                  <a:pt x="1668423" y="674569"/>
                </a:lnTo>
                <a:lnTo>
                  <a:pt x="1676400" y="635000"/>
                </a:lnTo>
                <a:lnTo>
                  <a:pt x="1676400" y="101600"/>
                </a:lnTo>
                <a:lnTo>
                  <a:pt x="1668423" y="62030"/>
                </a:lnTo>
                <a:lnTo>
                  <a:pt x="1646661" y="29738"/>
                </a:lnTo>
                <a:lnTo>
                  <a:pt x="1614369" y="7976"/>
                </a:lnTo>
                <a:lnTo>
                  <a:pt x="1574800" y="0"/>
                </a:lnTo>
                <a:close/>
              </a:path>
            </a:pathLst>
          </a:custGeom>
          <a:solidFill>
            <a:srgbClr val="1134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50231" y="1491100"/>
            <a:ext cx="713740" cy="46609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Features</a:t>
            </a:r>
            <a:endParaRPr sz="13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  <a:spcBef>
                <a:spcPts val="290"/>
              </a:spcBef>
            </a:pP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dirty="0" sz="10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"/>
                <a:cs typeface="Arial"/>
              </a:rPr>
              <a:t>inputs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70600" y="1587500"/>
            <a:ext cx="14414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 b="1">
                <a:solidFill>
                  <a:srgbClr val="495467"/>
                </a:solidFill>
                <a:latin typeface="Arial"/>
                <a:cs typeface="Arial"/>
              </a:rPr>
              <a:t>&gt;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73800" y="1358900"/>
            <a:ext cx="1676400" cy="736600"/>
          </a:xfrm>
          <a:custGeom>
            <a:avLst/>
            <a:gdLst/>
            <a:ahLst/>
            <a:cxnLst/>
            <a:rect l="l" t="t" r="r" b="b"/>
            <a:pathLst>
              <a:path w="1676400" h="736600">
                <a:moveTo>
                  <a:pt x="15748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635000"/>
                </a:lnTo>
                <a:lnTo>
                  <a:pt x="7976" y="674569"/>
                </a:lnTo>
                <a:lnTo>
                  <a:pt x="29738" y="706861"/>
                </a:lnTo>
                <a:lnTo>
                  <a:pt x="62030" y="728623"/>
                </a:lnTo>
                <a:lnTo>
                  <a:pt x="101600" y="736600"/>
                </a:lnTo>
                <a:lnTo>
                  <a:pt x="1574800" y="736600"/>
                </a:lnTo>
                <a:lnTo>
                  <a:pt x="1614369" y="728623"/>
                </a:lnTo>
                <a:lnTo>
                  <a:pt x="1646661" y="706861"/>
                </a:lnTo>
                <a:lnTo>
                  <a:pt x="1668423" y="674569"/>
                </a:lnTo>
                <a:lnTo>
                  <a:pt x="1676400" y="635000"/>
                </a:lnTo>
                <a:lnTo>
                  <a:pt x="1676400" y="101600"/>
                </a:lnTo>
                <a:lnTo>
                  <a:pt x="1668423" y="62030"/>
                </a:lnTo>
                <a:lnTo>
                  <a:pt x="1646661" y="29738"/>
                </a:lnTo>
                <a:lnTo>
                  <a:pt x="1614369" y="7976"/>
                </a:lnTo>
                <a:lnTo>
                  <a:pt x="1574800" y="0"/>
                </a:lnTo>
                <a:close/>
              </a:path>
            </a:pathLst>
          </a:custGeom>
          <a:solidFill>
            <a:srgbClr val="1A99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700087" y="1491100"/>
            <a:ext cx="824230" cy="46609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80/20</a:t>
            </a:r>
            <a:r>
              <a:rPr dirty="0" sz="13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split</a:t>
            </a:r>
            <a:endParaRPr sz="1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dirty="0" sz="1050" spc="-10">
                <a:solidFill>
                  <a:srgbClr val="FFFFFF"/>
                </a:solidFill>
                <a:latin typeface="Arial"/>
                <a:cs typeface="Arial"/>
              </a:rPr>
              <a:t>stratified</a:t>
            </a:r>
            <a:endParaRPr sz="1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75600" y="1587500"/>
            <a:ext cx="14414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 b="1">
                <a:solidFill>
                  <a:srgbClr val="495467"/>
                </a:solidFill>
                <a:latin typeface="Arial"/>
                <a:cs typeface="Arial"/>
              </a:rPr>
              <a:t>&gt;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178800" y="1358900"/>
            <a:ext cx="1676400" cy="736600"/>
          </a:xfrm>
          <a:custGeom>
            <a:avLst/>
            <a:gdLst/>
            <a:ahLst/>
            <a:cxnLst/>
            <a:rect l="l" t="t" r="r" b="b"/>
            <a:pathLst>
              <a:path w="1676400" h="736600">
                <a:moveTo>
                  <a:pt x="15748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635000"/>
                </a:lnTo>
                <a:lnTo>
                  <a:pt x="7976" y="674569"/>
                </a:lnTo>
                <a:lnTo>
                  <a:pt x="29738" y="706861"/>
                </a:lnTo>
                <a:lnTo>
                  <a:pt x="62030" y="728623"/>
                </a:lnTo>
                <a:lnTo>
                  <a:pt x="101600" y="736600"/>
                </a:lnTo>
                <a:lnTo>
                  <a:pt x="1574800" y="736600"/>
                </a:lnTo>
                <a:lnTo>
                  <a:pt x="1614369" y="728623"/>
                </a:lnTo>
                <a:lnTo>
                  <a:pt x="1646661" y="706861"/>
                </a:lnTo>
                <a:lnTo>
                  <a:pt x="1668423" y="674569"/>
                </a:lnTo>
                <a:lnTo>
                  <a:pt x="1676400" y="635000"/>
                </a:lnTo>
                <a:lnTo>
                  <a:pt x="1676400" y="101600"/>
                </a:lnTo>
                <a:lnTo>
                  <a:pt x="1668423" y="62030"/>
                </a:lnTo>
                <a:lnTo>
                  <a:pt x="1646661" y="29738"/>
                </a:lnTo>
                <a:lnTo>
                  <a:pt x="1614369" y="7976"/>
                </a:lnTo>
                <a:lnTo>
                  <a:pt x="1574800" y="0"/>
                </a:lnTo>
                <a:close/>
              </a:path>
            </a:pathLst>
          </a:custGeom>
          <a:solidFill>
            <a:srgbClr val="1134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554649" y="1491100"/>
            <a:ext cx="925194" cy="46609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Preprocess</a:t>
            </a:r>
            <a:endParaRPr sz="13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290"/>
              </a:spcBef>
            </a:pP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fit</a:t>
            </a:r>
            <a:r>
              <a:rPr dirty="0" sz="10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0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train</a:t>
            </a:r>
            <a:r>
              <a:rPr dirty="0" sz="10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FFFFFF"/>
                </a:solidFill>
                <a:latin typeface="Arial"/>
                <a:cs typeface="Arial"/>
              </a:rPr>
              <a:t>only</a:t>
            </a:r>
            <a:endParaRPr sz="1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880600" y="1587500"/>
            <a:ext cx="14414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 b="1">
                <a:solidFill>
                  <a:srgbClr val="495467"/>
                </a:solidFill>
                <a:latin typeface="Arial"/>
                <a:cs typeface="Arial"/>
              </a:rPr>
              <a:t>&gt;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083800" y="1358900"/>
            <a:ext cx="1676400" cy="736600"/>
          </a:xfrm>
          <a:custGeom>
            <a:avLst/>
            <a:gdLst/>
            <a:ahLst/>
            <a:cxnLst/>
            <a:rect l="l" t="t" r="r" b="b"/>
            <a:pathLst>
              <a:path w="1676400" h="736600">
                <a:moveTo>
                  <a:pt x="15748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635000"/>
                </a:lnTo>
                <a:lnTo>
                  <a:pt x="7976" y="674569"/>
                </a:lnTo>
                <a:lnTo>
                  <a:pt x="29738" y="706861"/>
                </a:lnTo>
                <a:lnTo>
                  <a:pt x="62030" y="728623"/>
                </a:lnTo>
                <a:lnTo>
                  <a:pt x="101600" y="736600"/>
                </a:lnTo>
                <a:lnTo>
                  <a:pt x="1574800" y="736600"/>
                </a:lnTo>
                <a:lnTo>
                  <a:pt x="1614369" y="728623"/>
                </a:lnTo>
                <a:lnTo>
                  <a:pt x="1646661" y="706861"/>
                </a:lnTo>
                <a:lnTo>
                  <a:pt x="1668423" y="674569"/>
                </a:lnTo>
                <a:lnTo>
                  <a:pt x="1676400" y="635000"/>
                </a:lnTo>
                <a:lnTo>
                  <a:pt x="1676400" y="101600"/>
                </a:lnTo>
                <a:lnTo>
                  <a:pt x="1668423" y="62030"/>
                </a:lnTo>
                <a:lnTo>
                  <a:pt x="1646661" y="29738"/>
                </a:lnTo>
                <a:lnTo>
                  <a:pt x="1614369" y="7976"/>
                </a:lnTo>
                <a:lnTo>
                  <a:pt x="1574800" y="0"/>
                </a:lnTo>
                <a:close/>
              </a:path>
            </a:pathLst>
          </a:custGeom>
          <a:solidFill>
            <a:srgbClr val="1A99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0551445" y="1491100"/>
            <a:ext cx="741680" cy="46609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 models</a:t>
            </a:r>
            <a:endParaRPr sz="130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290"/>
              </a:spcBef>
            </a:pP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LR,</a:t>
            </a:r>
            <a:r>
              <a:rPr dirty="0" sz="10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DT,</a:t>
            </a:r>
            <a:r>
              <a:rPr dirty="0" sz="10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FFFFFF"/>
                </a:solidFill>
                <a:latin typeface="Arial"/>
                <a:cs typeface="Arial"/>
              </a:rPr>
              <a:t>RF</a:t>
            </a:r>
            <a:endParaRPr sz="1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6100" y="2240279"/>
            <a:ext cx="5408930" cy="88900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800" b="1">
                <a:solidFill>
                  <a:srgbClr val="11345B"/>
                </a:solidFill>
                <a:latin typeface="Arial"/>
                <a:cs typeface="Arial"/>
              </a:rPr>
              <a:t>Engineered Healthcare Quality-Safety </a:t>
            </a:r>
            <a:r>
              <a:rPr dirty="0" sz="1800" spc="-10" b="1">
                <a:solidFill>
                  <a:srgbClr val="11345B"/>
                </a:solidFill>
                <a:latin typeface="Arial"/>
                <a:cs typeface="Arial"/>
              </a:rPr>
              <a:t>Score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spcBef>
                <a:spcPts val="480"/>
              </a:spcBef>
            </a:pP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Each indicator label is mapped to +1 (above), 0 (same) or -1 (below the </a:t>
            </a:r>
            <a:r>
              <a:rPr dirty="0" sz="1200" spc="-10">
                <a:solidFill>
                  <a:srgbClr val="495467"/>
                </a:solidFill>
                <a:latin typeface="Arial"/>
                <a:cs typeface="Arial"/>
              </a:rPr>
              <a:t>national </a:t>
            </a: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average); "Not Available" stays </a:t>
            </a:r>
            <a:r>
              <a:rPr dirty="0" sz="1200" spc="-10">
                <a:solidFill>
                  <a:srgbClr val="495467"/>
                </a:solidFill>
                <a:latin typeface="Arial"/>
                <a:cs typeface="Arial"/>
              </a:rPr>
              <a:t>missing.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64300" y="2362200"/>
            <a:ext cx="1765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1345B"/>
                </a:solidFill>
                <a:latin typeface="Arial"/>
                <a:cs typeface="Arial"/>
              </a:rPr>
              <a:t>13 model </a:t>
            </a:r>
            <a:r>
              <a:rPr dirty="0" sz="1800" spc="-10" b="1">
                <a:solidFill>
                  <a:srgbClr val="11345B"/>
                </a:solidFill>
                <a:latin typeface="Arial"/>
                <a:cs typeface="Arial"/>
              </a:rPr>
              <a:t>inputs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58800" y="3365500"/>
            <a:ext cx="5461000" cy="1016000"/>
          </a:xfrm>
          <a:custGeom>
            <a:avLst/>
            <a:gdLst/>
            <a:ahLst/>
            <a:cxnLst/>
            <a:rect l="l" t="t" r="r" b="b"/>
            <a:pathLst>
              <a:path w="5461000" h="1016000">
                <a:moveTo>
                  <a:pt x="53594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914400"/>
                </a:lnTo>
                <a:lnTo>
                  <a:pt x="7976" y="953969"/>
                </a:lnTo>
                <a:lnTo>
                  <a:pt x="29738" y="986261"/>
                </a:lnTo>
                <a:lnTo>
                  <a:pt x="62030" y="1008023"/>
                </a:lnTo>
                <a:lnTo>
                  <a:pt x="101600" y="1016000"/>
                </a:lnTo>
                <a:lnTo>
                  <a:pt x="5359400" y="1016000"/>
                </a:lnTo>
                <a:lnTo>
                  <a:pt x="5398969" y="1008023"/>
                </a:lnTo>
                <a:lnTo>
                  <a:pt x="5431261" y="986261"/>
                </a:lnTo>
                <a:lnTo>
                  <a:pt x="5453023" y="953969"/>
                </a:lnTo>
                <a:lnTo>
                  <a:pt x="5461000" y="914400"/>
                </a:lnTo>
                <a:lnTo>
                  <a:pt x="5461000" y="101600"/>
                </a:lnTo>
                <a:lnTo>
                  <a:pt x="5453023" y="62030"/>
                </a:lnTo>
                <a:lnTo>
                  <a:pt x="5431261" y="29738"/>
                </a:lnTo>
                <a:lnTo>
                  <a:pt x="5398969" y="7976"/>
                </a:lnTo>
                <a:lnTo>
                  <a:pt x="5359400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477000" y="2768600"/>
          <a:ext cx="497840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1590"/>
                <a:gridCol w="1069975"/>
              </a:tblGrid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Group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11345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477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Count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11345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Hospital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attributes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(type,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ownership,</a:t>
                      </a:r>
                      <a:r>
                        <a:rPr dirty="0" sz="11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emergency,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EHR)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477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National-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comparison</a:t>
                      </a:r>
                      <a:r>
                        <a:rPr dirty="0" sz="11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indicator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labels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477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Score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S_i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indicator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count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n_i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(numeric)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477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546100" y="3505200"/>
            <a:ext cx="10911205" cy="170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6131560">
              <a:lnSpc>
                <a:spcPct val="144400"/>
              </a:lnSpc>
              <a:spcBef>
                <a:spcPts val="100"/>
              </a:spcBef>
            </a:pP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S_i</a:t>
            </a:r>
            <a:r>
              <a:rPr dirty="0" sz="1500" spc="-20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=</a:t>
            </a:r>
            <a:r>
              <a:rPr dirty="0" sz="1500" spc="-20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(1</a:t>
            </a:r>
            <a:r>
              <a:rPr dirty="0" sz="1500" spc="-20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/</a:t>
            </a:r>
            <a:r>
              <a:rPr dirty="0" sz="1500" spc="-20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|K_i|)</a:t>
            </a:r>
            <a:r>
              <a:rPr dirty="0" sz="1500" spc="-20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*</a:t>
            </a:r>
            <a:r>
              <a:rPr dirty="0" sz="1500" spc="-20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sum</a:t>
            </a:r>
            <a:r>
              <a:rPr dirty="0" sz="1500" spc="-20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of</a:t>
            </a:r>
            <a:r>
              <a:rPr dirty="0" sz="1500" spc="-20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s_ik</a:t>
            </a:r>
            <a:r>
              <a:rPr dirty="0" sz="1500" spc="-20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over</a:t>
            </a:r>
            <a:r>
              <a:rPr dirty="0" sz="1500" spc="-20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observed</a:t>
            </a:r>
            <a:r>
              <a:rPr dirty="0" sz="1500" spc="-20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345B"/>
                </a:solidFill>
                <a:latin typeface="Arial"/>
                <a:cs typeface="Arial"/>
              </a:rPr>
              <a:t>indicators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n_i</a:t>
            </a:r>
            <a:r>
              <a:rPr dirty="0" sz="1500" spc="-25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=</a:t>
            </a:r>
            <a:r>
              <a:rPr dirty="0" sz="1500" spc="-30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|K_i|</a:t>
            </a:r>
            <a:r>
              <a:rPr dirty="0" sz="1500" spc="365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(number</a:t>
            </a:r>
            <a:r>
              <a:rPr dirty="0" sz="1500" spc="-25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of</a:t>
            </a:r>
            <a:r>
              <a:rPr dirty="0" sz="1500" spc="-25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available</a:t>
            </a:r>
            <a:r>
              <a:rPr dirty="0" sz="1500" spc="-25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indicators,</a:t>
            </a:r>
            <a:r>
              <a:rPr dirty="0" sz="1500" spc="-25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up</a:t>
            </a:r>
            <a:r>
              <a:rPr dirty="0" sz="1500" spc="-25" i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345B"/>
                </a:solidFill>
                <a:latin typeface="Arial"/>
                <a:cs typeface="Arial"/>
              </a:rPr>
              <a:t>to</a:t>
            </a:r>
            <a:r>
              <a:rPr dirty="0" sz="1500" spc="-25" i="1">
                <a:solidFill>
                  <a:srgbClr val="11345B"/>
                </a:solidFill>
                <a:latin typeface="Arial"/>
                <a:cs typeface="Arial"/>
              </a:rPr>
              <a:t> 7)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</a:pPr>
            <a:r>
              <a:rPr dirty="0" sz="1500" spc="-10" b="1">
                <a:solidFill>
                  <a:srgbClr val="1A1F2B"/>
                </a:solidFill>
                <a:latin typeface="Arial"/>
                <a:cs typeface="Arial"/>
              </a:rPr>
              <a:t>Leakage-</a:t>
            </a:r>
            <a:r>
              <a:rPr dirty="0" sz="1500" b="1">
                <a:solidFill>
                  <a:srgbClr val="1A1F2B"/>
                </a:solidFill>
                <a:latin typeface="Arial"/>
                <a:cs typeface="Arial"/>
              </a:rPr>
              <a:t>free:</a:t>
            </a:r>
            <a:r>
              <a:rPr dirty="0" sz="1500" spc="-25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imputation,</a:t>
            </a:r>
            <a:r>
              <a:rPr dirty="0" sz="150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scaling</a:t>
            </a:r>
            <a:r>
              <a:rPr dirty="0" sz="150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and</a:t>
            </a:r>
            <a:r>
              <a:rPr dirty="0" sz="150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A1F2B"/>
                </a:solidFill>
                <a:latin typeface="Arial"/>
                <a:cs typeface="Arial"/>
              </a:rPr>
              <a:t>one-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hot</a:t>
            </a:r>
            <a:r>
              <a:rPr dirty="0" sz="150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encoding</a:t>
            </a:r>
            <a:r>
              <a:rPr dirty="0" sz="150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live</a:t>
            </a:r>
            <a:r>
              <a:rPr dirty="0" sz="1500" spc="-2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inside</a:t>
            </a:r>
            <a:r>
              <a:rPr dirty="0" sz="150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a</a:t>
            </a:r>
            <a:r>
              <a:rPr dirty="0" sz="150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A1F2B"/>
                </a:solidFill>
                <a:latin typeface="Arial"/>
                <a:cs typeface="Arial"/>
              </a:rPr>
              <a:t>ColumnTransformer</a:t>
            </a:r>
            <a:r>
              <a:rPr dirty="0" sz="150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fitted</a:t>
            </a:r>
            <a:r>
              <a:rPr dirty="0" sz="150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on</a:t>
            </a:r>
            <a:r>
              <a:rPr dirty="0" sz="150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training</a:t>
            </a:r>
            <a:r>
              <a:rPr dirty="0" sz="150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data</a:t>
            </a:r>
            <a:r>
              <a:rPr dirty="0" sz="1500" spc="-2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only,</a:t>
            </a:r>
            <a:r>
              <a:rPr dirty="0" sz="150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so</a:t>
            </a:r>
            <a:r>
              <a:rPr dirty="0" sz="150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test</a:t>
            </a:r>
            <a:r>
              <a:rPr dirty="0" sz="150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1A1F2B"/>
                </a:solidFill>
                <a:latin typeface="Arial"/>
                <a:cs typeface="Arial"/>
              </a:rPr>
              <a:t>data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never</a:t>
            </a:r>
            <a:r>
              <a:rPr dirty="0" sz="1500" spc="-5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F2B"/>
                </a:solidFill>
                <a:latin typeface="Arial"/>
                <a:cs typeface="Arial"/>
              </a:rPr>
              <a:t>influences</a:t>
            </a:r>
            <a:r>
              <a:rPr dirty="0" sz="1500" spc="-5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A1F2B"/>
                </a:solidFill>
                <a:latin typeface="Arial"/>
                <a:cs typeface="Arial"/>
              </a:rPr>
              <a:t>preprocessing.</a:t>
            </a:r>
            <a:endParaRPr sz="15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Hospital Star Rating </a:t>
            </a:r>
            <a:r>
              <a:rPr dirty="0" spc="-10"/>
              <a:t>Prediction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10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Classification</a:t>
            </a:r>
            <a:r>
              <a:rPr dirty="0" spc="-110"/>
              <a:t> </a:t>
            </a:r>
            <a:r>
              <a:rPr dirty="0"/>
              <a:t>Models</a:t>
            </a:r>
            <a:r>
              <a:rPr dirty="0" spc="-110"/>
              <a:t> </a:t>
            </a:r>
            <a:r>
              <a:rPr dirty="0"/>
              <a:t>and</a:t>
            </a:r>
            <a:r>
              <a:rPr dirty="0" spc="-110"/>
              <a:t> </a:t>
            </a:r>
            <a:r>
              <a:rPr dirty="0" spc="-10"/>
              <a:t>Setup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58800" y="1460500"/>
            <a:ext cx="11074400" cy="306705"/>
            <a:chOff x="558800" y="1460500"/>
            <a:chExt cx="11074400" cy="306705"/>
          </a:xfrm>
        </p:grpSpPr>
        <p:sp>
          <p:nvSpPr>
            <p:cNvPr id="4" name="object 4"/>
            <p:cNvSpPr/>
            <p:nvPr/>
          </p:nvSpPr>
          <p:spPr>
            <a:xfrm>
              <a:off x="558800" y="1460500"/>
              <a:ext cx="11074400" cy="304800"/>
            </a:xfrm>
            <a:custGeom>
              <a:avLst/>
              <a:gdLst/>
              <a:ahLst/>
              <a:cxnLst/>
              <a:rect l="l" t="t" r="r" b="b"/>
              <a:pathLst>
                <a:path w="11074400" h="304800">
                  <a:moveTo>
                    <a:pt x="11074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1074400" y="304800"/>
                  </a:lnTo>
                  <a:lnTo>
                    <a:pt x="11074400" y="0"/>
                  </a:lnTo>
                  <a:close/>
                </a:path>
              </a:pathLst>
            </a:custGeom>
            <a:solidFill>
              <a:srgbClr val="1134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58800" y="1765300"/>
              <a:ext cx="11074400" cy="0"/>
            </a:xfrm>
            <a:custGeom>
              <a:avLst/>
              <a:gdLst/>
              <a:ahLst/>
              <a:cxnLst/>
              <a:rect l="l" t="t" r="r" b="b"/>
              <a:pathLst>
                <a:path w="11074400" h="0">
                  <a:moveTo>
                    <a:pt x="0" y="0"/>
                  </a:moveTo>
                  <a:lnTo>
                    <a:pt x="11074400" y="0"/>
                  </a:lnTo>
                </a:path>
              </a:pathLst>
            </a:custGeom>
            <a:ln w="3810">
              <a:solidFill>
                <a:srgbClr val="CAD4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558800" y="2068195"/>
            <a:ext cx="11074400" cy="308610"/>
            <a:chOff x="558800" y="2068195"/>
            <a:chExt cx="11074400" cy="308610"/>
          </a:xfrm>
        </p:grpSpPr>
        <p:sp>
          <p:nvSpPr>
            <p:cNvPr id="7" name="object 7"/>
            <p:cNvSpPr/>
            <p:nvPr/>
          </p:nvSpPr>
          <p:spPr>
            <a:xfrm>
              <a:off x="558800" y="2070100"/>
              <a:ext cx="11074400" cy="304800"/>
            </a:xfrm>
            <a:custGeom>
              <a:avLst/>
              <a:gdLst/>
              <a:ahLst/>
              <a:cxnLst/>
              <a:rect l="l" t="t" r="r" b="b"/>
              <a:pathLst>
                <a:path w="11074400" h="304800">
                  <a:moveTo>
                    <a:pt x="11074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1074400" y="304800"/>
                  </a:lnTo>
                  <a:lnTo>
                    <a:pt x="11074400" y="0"/>
                  </a:lnTo>
                  <a:close/>
                </a:path>
              </a:pathLst>
            </a:custGeom>
            <a:solidFill>
              <a:srgbClr val="F2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58800" y="2070100"/>
              <a:ext cx="11074400" cy="304800"/>
            </a:xfrm>
            <a:custGeom>
              <a:avLst/>
              <a:gdLst/>
              <a:ahLst/>
              <a:cxnLst/>
              <a:rect l="l" t="t" r="r" b="b"/>
              <a:pathLst>
                <a:path w="11074400" h="304800">
                  <a:moveTo>
                    <a:pt x="0" y="0"/>
                  </a:moveTo>
                  <a:lnTo>
                    <a:pt x="11074400" y="0"/>
                  </a:lnTo>
                </a:path>
                <a:path w="11074400" h="304800">
                  <a:moveTo>
                    <a:pt x="0" y="304800"/>
                  </a:moveTo>
                  <a:lnTo>
                    <a:pt x="11074400" y="304800"/>
                  </a:lnTo>
                </a:path>
              </a:pathLst>
            </a:custGeom>
            <a:ln w="3810">
              <a:solidFill>
                <a:srgbClr val="CAD4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558800" y="2679700"/>
            <a:ext cx="11074400" cy="0"/>
          </a:xfrm>
          <a:custGeom>
            <a:avLst/>
            <a:gdLst/>
            <a:ahLst/>
            <a:cxnLst/>
            <a:rect l="l" t="t" r="r" b="b"/>
            <a:pathLst>
              <a:path w="11074400" h="0">
                <a:moveTo>
                  <a:pt x="0" y="0"/>
                </a:moveTo>
                <a:lnTo>
                  <a:pt x="11074400" y="0"/>
                </a:lnTo>
              </a:path>
            </a:pathLst>
          </a:custGeom>
          <a:ln w="3810">
            <a:solidFill>
              <a:srgbClr val="CAD4D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850" y="3448050"/>
            <a:ext cx="88900" cy="889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850" y="3917950"/>
            <a:ext cx="88900" cy="889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850" y="4387850"/>
            <a:ext cx="88900" cy="889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850" y="4857750"/>
            <a:ext cx="88900" cy="889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850" y="5327650"/>
            <a:ext cx="88900" cy="889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08000" y="1524000"/>
            <a:ext cx="11163300" cy="39928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  <a:tabLst>
                <a:tab pos="6341110" algn="l"/>
              </a:tabLst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	Key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settings</a:t>
            </a:r>
            <a:endParaRPr sz="1200">
              <a:latin typeface="Arial"/>
              <a:cs typeface="Arial"/>
            </a:endParaRPr>
          </a:p>
          <a:p>
            <a:pPr marL="127000" marR="1622425">
              <a:lnSpc>
                <a:spcPct val="166700"/>
              </a:lnSpc>
              <a:tabLst>
                <a:tab pos="4056379" algn="l"/>
                <a:tab pos="4193540" algn="l"/>
              </a:tabLst>
            </a:pPr>
            <a:r>
              <a:rPr dirty="0" sz="1200">
                <a:latin typeface="Arial"/>
                <a:cs typeface="Arial"/>
              </a:rPr>
              <a:t>Logistic </a:t>
            </a:r>
            <a:r>
              <a:rPr dirty="0" sz="1200" spc="-10">
                <a:latin typeface="Arial"/>
                <a:cs typeface="Arial"/>
              </a:rPr>
              <a:t>Regression</a:t>
            </a:r>
            <a:r>
              <a:rPr dirty="0" sz="1200">
                <a:latin typeface="Arial"/>
                <a:cs typeface="Arial"/>
              </a:rPr>
              <a:t>	Multinomial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softmax,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L2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penalty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(C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= 1.0),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balanced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class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weights,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max_iter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2000 </a:t>
            </a:r>
            <a:r>
              <a:rPr dirty="0" sz="1200">
                <a:latin typeface="Arial"/>
                <a:cs typeface="Arial"/>
              </a:rPr>
              <a:t>Decision </a:t>
            </a:r>
            <a:r>
              <a:rPr dirty="0" sz="1200" spc="-20">
                <a:latin typeface="Arial"/>
                <a:cs typeface="Arial"/>
              </a:rPr>
              <a:t>Tree</a:t>
            </a:r>
            <a:r>
              <a:rPr dirty="0" sz="1200">
                <a:latin typeface="Arial"/>
                <a:cs typeface="Arial"/>
              </a:rPr>
              <a:t>		Weighted Gini impurity, max_depth 8, min_samples_leaf 5, balanced </a:t>
            </a:r>
            <a:r>
              <a:rPr dirty="0" sz="1200" spc="-10">
                <a:latin typeface="Arial"/>
                <a:cs typeface="Arial"/>
              </a:rPr>
              <a:t>weights</a:t>
            </a:r>
            <a:endParaRPr sz="1200">
              <a:latin typeface="Arial"/>
              <a:cs typeface="Arial"/>
            </a:endParaRPr>
          </a:p>
          <a:p>
            <a:pPr marL="127000">
              <a:lnSpc>
                <a:spcPct val="100000"/>
              </a:lnSpc>
              <a:spcBef>
                <a:spcPts val="960"/>
              </a:spcBef>
              <a:tabLst>
                <a:tab pos="4125595" algn="l"/>
              </a:tabLst>
            </a:pPr>
            <a:r>
              <a:rPr dirty="0" sz="1200">
                <a:latin typeface="Arial"/>
                <a:cs typeface="Arial"/>
              </a:rPr>
              <a:t>Random </a:t>
            </a:r>
            <a:r>
              <a:rPr dirty="0" sz="1200" spc="-10">
                <a:latin typeface="Arial"/>
                <a:cs typeface="Arial"/>
              </a:rPr>
              <a:t>Forest</a:t>
            </a:r>
            <a:r>
              <a:rPr dirty="0" sz="1200">
                <a:latin typeface="Arial"/>
                <a:cs typeface="Arial"/>
              </a:rPr>
              <a:t>	300 trees, max_depth 12, min_samples_leaf 3, balanced weights, majority </a:t>
            </a:r>
            <a:r>
              <a:rPr dirty="0" sz="1200" spc="-20">
                <a:latin typeface="Arial"/>
                <a:cs typeface="Arial"/>
              </a:rPr>
              <a:t>vote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12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solidFill>
                  <a:srgbClr val="11345B"/>
                </a:solidFill>
                <a:latin typeface="Arial"/>
                <a:cs typeface="Arial"/>
              </a:rPr>
              <a:t>Experimental </a:t>
            </a:r>
            <a:r>
              <a:rPr dirty="0" sz="1800" spc="-10" b="1">
                <a:solidFill>
                  <a:srgbClr val="11345B"/>
                </a:solidFill>
                <a:latin typeface="Arial"/>
                <a:cs typeface="Arial"/>
              </a:rPr>
              <a:t>protocol</a:t>
            </a:r>
            <a:endParaRPr sz="180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1140"/>
              </a:spcBef>
            </a:pP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Stratified</a:t>
            </a:r>
            <a:r>
              <a:rPr dirty="0" sz="1700" spc="-4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80/20</a:t>
            </a:r>
            <a:r>
              <a:rPr dirty="0" sz="1700" spc="-4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split,</a:t>
            </a:r>
            <a:r>
              <a:rPr dirty="0" sz="1700" spc="-4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random</a:t>
            </a:r>
            <a:r>
              <a:rPr dirty="0" sz="1700" spc="-4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seed</a:t>
            </a:r>
            <a:r>
              <a:rPr dirty="0" sz="1700" spc="-4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42:</a:t>
            </a:r>
            <a:r>
              <a:rPr dirty="0" sz="1700" spc="-4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1A1F2B"/>
                </a:solidFill>
                <a:latin typeface="Arial"/>
                <a:cs typeface="Arial"/>
              </a:rPr>
              <a:t>2,853</a:t>
            </a:r>
            <a:r>
              <a:rPr dirty="0" sz="1700" spc="-45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1A1F2B"/>
                </a:solidFill>
                <a:latin typeface="Arial"/>
                <a:cs typeface="Arial"/>
              </a:rPr>
              <a:t>training</a:t>
            </a:r>
            <a:r>
              <a:rPr dirty="0" sz="1700" spc="-40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and</a:t>
            </a:r>
            <a:r>
              <a:rPr dirty="0" sz="1700" spc="-4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1A1F2B"/>
                </a:solidFill>
                <a:latin typeface="Arial"/>
                <a:cs typeface="Arial"/>
              </a:rPr>
              <a:t>714</a:t>
            </a:r>
            <a:r>
              <a:rPr dirty="0" sz="1700" spc="-40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1A1F2B"/>
                </a:solidFill>
                <a:latin typeface="Arial"/>
                <a:cs typeface="Arial"/>
              </a:rPr>
              <a:t>test</a:t>
            </a:r>
            <a:r>
              <a:rPr dirty="0" sz="1700" spc="-45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1A1F2B"/>
                </a:solidFill>
                <a:latin typeface="Arial"/>
                <a:cs typeface="Arial"/>
              </a:rPr>
              <a:t>hospitals.</a:t>
            </a:r>
            <a:endParaRPr sz="1700">
              <a:latin typeface="Arial"/>
              <a:cs typeface="Arial"/>
            </a:endParaRPr>
          </a:p>
          <a:p>
            <a:pPr marL="304800" marR="4834255">
              <a:lnSpc>
                <a:spcPct val="181400"/>
              </a:lnSpc>
            </a:pP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Class</a:t>
            </a:r>
            <a:r>
              <a:rPr dirty="0" sz="170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weight</a:t>
            </a:r>
            <a:r>
              <a:rPr dirty="0" sz="170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w</a:t>
            </a:r>
            <a:r>
              <a:rPr dirty="0" baseline="-31481" sz="2250">
                <a:solidFill>
                  <a:srgbClr val="1A1F2B"/>
                </a:solidFill>
                <a:latin typeface="Arial"/>
                <a:cs typeface="Arial"/>
              </a:rPr>
              <a:t>c</a:t>
            </a:r>
            <a:r>
              <a:rPr dirty="0" baseline="-31481" sz="2250" spc="6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=</a:t>
            </a:r>
            <a:r>
              <a:rPr dirty="0" sz="170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N</a:t>
            </a:r>
            <a:r>
              <a:rPr dirty="0" sz="1700" spc="-1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/</a:t>
            </a:r>
            <a:r>
              <a:rPr dirty="0" sz="170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(K</a:t>
            </a:r>
            <a:r>
              <a:rPr dirty="0" sz="170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x</a:t>
            </a:r>
            <a:r>
              <a:rPr dirty="0" sz="170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n</a:t>
            </a:r>
            <a:r>
              <a:rPr dirty="0" baseline="-31481" sz="2250">
                <a:solidFill>
                  <a:srgbClr val="1A1F2B"/>
                </a:solidFill>
                <a:latin typeface="Arial"/>
                <a:cs typeface="Arial"/>
              </a:rPr>
              <a:t>c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)</a:t>
            </a:r>
            <a:r>
              <a:rPr dirty="0" sz="170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to</a:t>
            </a:r>
            <a:r>
              <a:rPr dirty="0" sz="1700" spc="-1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counter</a:t>
            </a:r>
            <a:r>
              <a:rPr dirty="0" sz="170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the</a:t>
            </a:r>
            <a:r>
              <a:rPr dirty="0" sz="170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1A1F2B"/>
                </a:solidFill>
                <a:latin typeface="Arial"/>
                <a:cs typeface="Arial"/>
              </a:rPr>
              <a:t>3-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star</a:t>
            </a:r>
            <a:r>
              <a:rPr dirty="0" sz="170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1A1F2B"/>
                </a:solidFill>
                <a:latin typeface="Arial"/>
                <a:cs typeface="Arial"/>
              </a:rPr>
              <a:t>dominance. Hyperparameters</a:t>
            </a:r>
            <a:r>
              <a:rPr dirty="0" sz="170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fixed</a:t>
            </a:r>
            <a:r>
              <a:rPr dirty="0" sz="170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a</a:t>
            </a:r>
            <a:r>
              <a:rPr dirty="0" sz="170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priori;</a:t>
            </a:r>
            <a:r>
              <a:rPr dirty="0" sz="1700" spc="-1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no</a:t>
            </a:r>
            <a:r>
              <a:rPr dirty="0" sz="170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tuning</a:t>
            </a:r>
            <a:r>
              <a:rPr dirty="0" sz="170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or</a:t>
            </a:r>
            <a:r>
              <a:rPr dirty="0" sz="1700" spc="-10">
                <a:solidFill>
                  <a:srgbClr val="1A1F2B"/>
                </a:solidFill>
                <a:latin typeface="Arial"/>
                <a:cs typeface="Arial"/>
              </a:rPr>
              <a:t> cross-validation.</a:t>
            </a:r>
            <a:endParaRPr sz="1700">
              <a:latin typeface="Arial"/>
              <a:cs typeface="Arial"/>
            </a:endParaRPr>
          </a:p>
          <a:p>
            <a:pPr marL="304800" marR="1875155">
              <a:lnSpc>
                <a:spcPct val="181400"/>
              </a:lnSpc>
            </a:pP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Metrics:</a:t>
            </a:r>
            <a:r>
              <a:rPr dirty="0" sz="17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accuracy,</a:t>
            </a:r>
            <a:r>
              <a:rPr dirty="0" sz="17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weighted</a:t>
            </a:r>
            <a:r>
              <a:rPr dirty="0" sz="1700" spc="-4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precision</a:t>
            </a:r>
            <a:r>
              <a:rPr dirty="0" sz="17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/</a:t>
            </a:r>
            <a:r>
              <a:rPr dirty="0" sz="17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recall</a:t>
            </a:r>
            <a:r>
              <a:rPr dirty="0" sz="17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/</a:t>
            </a:r>
            <a:r>
              <a:rPr dirty="0" sz="17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F1,</a:t>
            </a:r>
            <a:r>
              <a:rPr dirty="0" sz="17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plus</a:t>
            </a:r>
            <a:r>
              <a:rPr dirty="0" sz="17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1A1F2B"/>
                </a:solidFill>
                <a:latin typeface="Arial"/>
                <a:cs typeface="Arial"/>
              </a:rPr>
              <a:t>per-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class</a:t>
            </a:r>
            <a:r>
              <a:rPr dirty="0" sz="17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scores</a:t>
            </a:r>
            <a:r>
              <a:rPr dirty="0" sz="17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and</a:t>
            </a:r>
            <a:r>
              <a:rPr dirty="0" sz="17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confusion</a:t>
            </a:r>
            <a:r>
              <a:rPr dirty="0" sz="17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1A1F2B"/>
                </a:solidFill>
                <a:latin typeface="Arial"/>
                <a:cs typeface="Arial"/>
              </a:rPr>
              <a:t>matrix.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Run</a:t>
            </a:r>
            <a:r>
              <a:rPr dirty="0" sz="1700" spc="-4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in</a:t>
            </a:r>
            <a:r>
              <a:rPr dirty="0" sz="17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Google</a:t>
            </a:r>
            <a:r>
              <a:rPr dirty="0" sz="17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Colab</a:t>
            </a:r>
            <a:r>
              <a:rPr dirty="0" sz="17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with</a:t>
            </a:r>
            <a:r>
              <a:rPr dirty="0" sz="17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1A1F2B"/>
                </a:solidFill>
                <a:latin typeface="Arial"/>
                <a:cs typeface="Arial"/>
              </a:rPr>
              <a:t>scikit-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learn,</a:t>
            </a:r>
            <a:r>
              <a:rPr dirty="0" sz="1700" spc="-4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A1F2B"/>
                </a:solidFill>
                <a:latin typeface="Arial"/>
                <a:cs typeface="Arial"/>
              </a:rPr>
              <a:t>pandas,</a:t>
            </a:r>
            <a:r>
              <a:rPr dirty="0" sz="170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1A1F2B"/>
                </a:solidFill>
                <a:latin typeface="Arial"/>
                <a:cs typeface="Arial"/>
              </a:rPr>
              <a:t>NumPy.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Hospital Star Rating </a:t>
            </a:r>
            <a:r>
              <a:rPr dirty="0" spc="-10"/>
              <a:t>Prediction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10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dirty="0" spc="-85"/>
              <a:t> </a:t>
            </a:r>
            <a:r>
              <a:rPr dirty="0" spc="-10"/>
              <a:t>Comparison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58800" y="1458594"/>
          <a:ext cx="5334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4970"/>
                <a:gridCol w="1128395"/>
                <a:gridCol w="923925"/>
                <a:gridCol w="779779"/>
                <a:gridCol w="758825"/>
              </a:tblGrid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Model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11345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939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Accuracy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11345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730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Precision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11345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Recall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1134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11345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Logistic</a:t>
                      </a:r>
                      <a:r>
                        <a:rPr dirty="0" sz="11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Regression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D4EFE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939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0.664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D4EFE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730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0.714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D4EFE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0.664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D4E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0.678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D4EFE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Random</a:t>
                      </a:r>
                      <a:r>
                        <a:rPr dirty="0" sz="11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Forest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939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0.661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730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0.699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0.661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0.673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58800" y="2464333"/>
          <a:ext cx="5334000" cy="520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6385"/>
                <a:gridCol w="1237615"/>
                <a:gridCol w="869950"/>
                <a:gridCol w="819150"/>
                <a:gridCol w="774700"/>
              </a:tblGrid>
              <a:tr h="215265">
                <a:tc>
                  <a:txBody>
                    <a:bodyPr/>
                    <a:lstStyle/>
                    <a:p>
                      <a:pPr marL="76200">
                        <a:lnSpc>
                          <a:spcPts val="121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Decision</a:t>
                      </a:r>
                      <a:r>
                        <a:rPr dirty="0" sz="11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Tree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215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0.588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1215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0.660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ts val="1215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0.588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215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0.609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Majority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class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0.494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-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-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-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46100" y="3268979"/>
            <a:ext cx="525208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1100"/>
              </a:lnSpc>
              <a:spcBef>
                <a:spcPts val="100"/>
              </a:spcBef>
            </a:pP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Logistic Regression and Random Forest are statistically indistinguishable: </a:t>
            </a:r>
            <a:r>
              <a:rPr dirty="0" sz="1200" spc="-25">
                <a:solidFill>
                  <a:srgbClr val="495467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accuracy</a:t>
            </a:r>
            <a:r>
              <a:rPr dirty="0" sz="1200" spc="-10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gap</a:t>
            </a:r>
            <a:r>
              <a:rPr dirty="0" sz="1200" spc="-10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is</a:t>
            </a:r>
            <a:r>
              <a:rPr dirty="0" sz="1200" spc="-5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95467"/>
                </a:solidFill>
                <a:latin typeface="Arial"/>
                <a:cs typeface="Arial"/>
              </a:rPr>
              <a:t>0.003,</a:t>
            </a:r>
            <a:r>
              <a:rPr dirty="0" sz="1200" spc="-10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95467"/>
                </a:solidFill>
                <a:latin typeface="Arial"/>
                <a:cs typeface="Arial"/>
              </a:rPr>
              <a:t>about</a:t>
            </a:r>
            <a:r>
              <a:rPr dirty="0" sz="1200" spc="-10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95467"/>
                </a:solidFill>
                <a:latin typeface="Arial"/>
                <a:cs typeface="Arial"/>
              </a:rPr>
              <a:t>two</a:t>
            </a:r>
            <a:r>
              <a:rPr dirty="0" sz="1200" spc="-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95467"/>
                </a:solidFill>
                <a:latin typeface="Arial"/>
                <a:cs typeface="Arial"/>
              </a:rPr>
              <a:t>hospitals</a:t>
            </a:r>
            <a:r>
              <a:rPr dirty="0" sz="1200" spc="-10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out</a:t>
            </a:r>
            <a:r>
              <a:rPr dirty="0" sz="1200" spc="-10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of</a:t>
            </a:r>
            <a:r>
              <a:rPr dirty="0" sz="1200" spc="-5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714.</a:t>
            </a:r>
            <a:r>
              <a:rPr dirty="0" sz="1200" spc="-10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Both</a:t>
            </a:r>
            <a:r>
              <a:rPr dirty="0" sz="1200" spc="-5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clearly</a:t>
            </a:r>
            <a:r>
              <a:rPr dirty="0" sz="1200" spc="-10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beat</a:t>
            </a:r>
            <a:r>
              <a:rPr dirty="0" sz="1200" spc="-10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495467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Decision Tree and the majority </a:t>
            </a:r>
            <a:r>
              <a:rPr dirty="0" sz="1200" spc="-10">
                <a:solidFill>
                  <a:srgbClr val="495467"/>
                </a:solidFill>
                <a:latin typeface="Arial"/>
                <a:cs typeface="Arial"/>
              </a:rPr>
              <a:t>baseline.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6100" y="4348479"/>
            <a:ext cx="5175885" cy="43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Random Forest was chosen for error and importance analysis because of </a:t>
            </a:r>
            <a:r>
              <a:rPr dirty="0" sz="1200" spc="-25">
                <a:solidFill>
                  <a:srgbClr val="495467"/>
                </a:solidFill>
                <a:latin typeface="Arial"/>
                <a:cs typeface="Arial"/>
              </a:rPr>
              <a:t>its </a:t>
            </a: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built-in feature </a:t>
            </a:r>
            <a:r>
              <a:rPr dirty="0" sz="1200" spc="-10">
                <a:solidFill>
                  <a:srgbClr val="495467"/>
                </a:solidFill>
                <a:latin typeface="Arial"/>
                <a:cs typeface="Arial"/>
              </a:rPr>
              <a:t>importances.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1152" y="1971221"/>
            <a:ext cx="5173322" cy="303280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Hospital Star Rating </a:t>
            </a:r>
            <a:r>
              <a:rPr dirty="0" spc="-10"/>
              <a:t>Prediction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10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Error</a:t>
            </a:r>
            <a:r>
              <a:rPr dirty="0" spc="-80"/>
              <a:t> </a:t>
            </a:r>
            <a:r>
              <a:rPr dirty="0"/>
              <a:t>Analysis</a:t>
            </a:r>
            <a:r>
              <a:rPr dirty="0" spc="-80"/>
              <a:t> </a:t>
            </a:r>
            <a:r>
              <a:rPr dirty="0"/>
              <a:t>(Random</a:t>
            </a:r>
            <a:r>
              <a:rPr dirty="0" spc="-80"/>
              <a:t> </a:t>
            </a:r>
            <a:r>
              <a:rPr dirty="0" spc="-10"/>
              <a:t>Forest)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9050" y="1543050"/>
            <a:ext cx="88900" cy="88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613" y="1715653"/>
            <a:ext cx="3434195" cy="3543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9050" y="1892300"/>
            <a:ext cx="88900" cy="88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9050" y="2241550"/>
            <a:ext cx="88900" cy="889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21300" y="1319530"/>
            <a:ext cx="6299835" cy="107315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1450" b="1">
                <a:solidFill>
                  <a:srgbClr val="1A1F2B"/>
                </a:solidFill>
                <a:latin typeface="Arial"/>
                <a:cs typeface="Arial"/>
              </a:rPr>
              <a:t>472</a:t>
            </a:r>
            <a:r>
              <a:rPr dirty="0" sz="1450" spc="-30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1F2B"/>
                </a:solidFill>
                <a:latin typeface="Arial"/>
                <a:cs typeface="Arial"/>
              </a:rPr>
              <a:t>of</a:t>
            </a:r>
            <a:r>
              <a:rPr dirty="0" sz="1450" spc="-30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1F2B"/>
                </a:solidFill>
                <a:latin typeface="Arial"/>
                <a:cs typeface="Arial"/>
              </a:rPr>
              <a:t>714</a:t>
            </a:r>
            <a:r>
              <a:rPr dirty="0" sz="1450" spc="-25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hospitals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(66.1%)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lie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on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the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A1F2B"/>
                </a:solidFill>
                <a:latin typeface="Arial"/>
                <a:cs typeface="Arial"/>
              </a:rPr>
              <a:t>diagonal.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58000"/>
              </a:lnSpc>
            </a:pP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Errors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are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almost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always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1F2B"/>
                </a:solidFill>
                <a:latin typeface="Arial"/>
                <a:cs typeface="Arial"/>
              </a:rPr>
              <a:t>one</a:t>
            </a:r>
            <a:r>
              <a:rPr dirty="0" sz="1450" spc="-30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1F2B"/>
                </a:solidFill>
                <a:latin typeface="Arial"/>
                <a:cs typeface="Arial"/>
              </a:rPr>
              <a:t>star</a:t>
            </a:r>
            <a:r>
              <a:rPr dirty="0" sz="1450" spc="-30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1F2B"/>
                </a:solidFill>
                <a:latin typeface="Arial"/>
                <a:cs typeface="Arial"/>
              </a:rPr>
              <a:t>away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;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only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8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of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242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errors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span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two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A1F2B"/>
                </a:solidFill>
                <a:latin typeface="Arial"/>
                <a:cs typeface="Arial"/>
              </a:rPr>
              <a:t>stars.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Balanced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weights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give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high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recall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on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rare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extremes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at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the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cost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of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A1F2B"/>
                </a:solidFill>
                <a:latin typeface="Arial"/>
                <a:cs typeface="Arial"/>
              </a:rPr>
              <a:t>precision.</a:t>
            </a:r>
            <a:endParaRPr sz="14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080000" y="3238500"/>
          <a:ext cx="591820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0160"/>
                <a:gridCol w="1311910"/>
                <a:gridCol w="1092834"/>
                <a:gridCol w="983614"/>
                <a:gridCol w="1174750"/>
              </a:tblGrid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Stars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11345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476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Precision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11345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Recall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11345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11345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11345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476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0.25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0.52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0.34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476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0.60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0.58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0.59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136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476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0.81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0.68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0.74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353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476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0.65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0.69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0.67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188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476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0.29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0.75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0.42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16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Macro</a:t>
                      </a:r>
                      <a:r>
                        <a:rPr dirty="0" sz="105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25">
                          <a:latin typeface="Arial"/>
                          <a:cs typeface="Arial"/>
                        </a:rPr>
                        <a:t>avg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476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0.52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0.65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0.55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714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Weighted</a:t>
                      </a:r>
                      <a:r>
                        <a:rPr dirty="0" sz="105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25">
                          <a:latin typeface="Arial"/>
                          <a:cs typeface="Arial"/>
                        </a:rPr>
                        <a:t>avg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476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0.70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0.66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0.67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714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Hospital Star Rating </a:t>
            </a:r>
            <a:r>
              <a:rPr dirty="0" spc="-10"/>
              <a:t>Prediction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10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dirty="0" spc="-70"/>
              <a:t> </a:t>
            </a:r>
            <a:r>
              <a:rPr dirty="0"/>
              <a:t>Drives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 spc="-10"/>
              <a:t>Prediction?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1467465"/>
            <a:ext cx="6796548" cy="39115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66050" y="1543050"/>
            <a:ext cx="88900" cy="88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66050" y="2165350"/>
            <a:ext cx="88900" cy="88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66050" y="2787650"/>
            <a:ext cx="88900" cy="889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66050" y="3409950"/>
            <a:ext cx="88900" cy="889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988300" y="1421130"/>
            <a:ext cx="3700145" cy="2635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100"/>
              </a:spcBef>
            </a:pP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The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engineered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1A1F2B"/>
                </a:solidFill>
                <a:latin typeface="Arial"/>
                <a:cs typeface="Arial"/>
              </a:rPr>
              <a:t>Quality-</a:t>
            </a:r>
            <a:r>
              <a:rPr dirty="0" sz="1450" b="1">
                <a:solidFill>
                  <a:srgbClr val="1A1F2B"/>
                </a:solidFill>
                <a:latin typeface="Arial"/>
                <a:cs typeface="Arial"/>
              </a:rPr>
              <a:t>Safety</a:t>
            </a:r>
            <a:r>
              <a:rPr dirty="0" sz="1450" spc="-35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1F2B"/>
                </a:solidFill>
                <a:latin typeface="Arial"/>
                <a:cs typeface="Arial"/>
              </a:rPr>
              <a:t>Score</a:t>
            </a:r>
            <a:r>
              <a:rPr dirty="0" sz="1450" spc="-30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1F2B"/>
                </a:solidFill>
                <a:latin typeface="Arial"/>
                <a:cs typeface="Arial"/>
              </a:rPr>
              <a:t>is</a:t>
            </a:r>
            <a:r>
              <a:rPr dirty="0" sz="1450" spc="-35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25" b="1">
                <a:solidFill>
                  <a:srgbClr val="1A1F2B"/>
                </a:solidFill>
                <a:latin typeface="Arial"/>
                <a:cs typeface="Arial"/>
              </a:rPr>
              <a:t>the </a:t>
            </a:r>
            <a:r>
              <a:rPr dirty="0" sz="1450" b="1">
                <a:solidFill>
                  <a:srgbClr val="1A1F2B"/>
                </a:solidFill>
                <a:latin typeface="Arial"/>
                <a:cs typeface="Arial"/>
              </a:rPr>
              <a:t>top</a:t>
            </a:r>
            <a:r>
              <a:rPr dirty="0" sz="1450" spc="-35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1F2B"/>
                </a:solidFill>
                <a:latin typeface="Arial"/>
                <a:cs typeface="Arial"/>
              </a:rPr>
              <a:t>feature</a:t>
            </a:r>
            <a:r>
              <a:rPr dirty="0" sz="1450" spc="-30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(0.238),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about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3x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the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next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1A1F2B"/>
                </a:solidFill>
                <a:latin typeface="Arial"/>
                <a:cs typeface="Arial"/>
              </a:rPr>
              <a:t>one.</a:t>
            </a:r>
            <a:endParaRPr sz="1450">
              <a:latin typeface="Arial"/>
              <a:cs typeface="Arial"/>
            </a:endParaRPr>
          </a:p>
          <a:p>
            <a:pPr marL="12700" marR="751840">
              <a:lnSpc>
                <a:spcPct val="112100"/>
              </a:lnSpc>
              <a:spcBef>
                <a:spcPts val="994"/>
              </a:spcBef>
            </a:pP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Patient</a:t>
            </a:r>
            <a:r>
              <a:rPr dirty="0" sz="1450" spc="-5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experience</a:t>
            </a:r>
            <a:r>
              <a:rPr dirty="0" sz="1450" spc="-4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and</a:t>
            </a:r>
            <a:r>
              <a:rPr dirty="0" sz="1450" spc="-5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A1F2B"/>
                </a:solidFill>
                <a:latin typeface="Arial"/>
                <a:cs typeface="Arial"/>
              </a:rPr>
              <a:t>readmission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categories</a:t>
            </a:r>
            <a:r>
              <a:rPr dirty="0" sz="1450" spc="-7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A1F2B"/>
                </a:solidFill>
                <a:latin typeface="Arial"/>
                <a:cs typeface="Arial"/>
              </a:rPr>
              <a:t>follow.</a:t>
            </a:r>
            <a:endParaRPr sz="1450">
              <a:latin typeface="Arial"/>
              <a:cs typeface="Arial"/>
            </a:endParaRPr>
          </a:p>
          <a:p>
            <a:pPr marL="12700" marR="352425">
              <a:lnSpc>
                <a:spcPct val="112100"/>
              </a:lnSpc>
              <a:spcBef>
                <a:spcPts val="1000"/>
              </a:spcBef>
            </a:pP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Hospital</a:t>
            </a:r>
            <a:r>
              <a:rPr dirty="0" sz="1450" spc="-4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type,</a:t>
            </a:r>
            <a:r>
              <a:rPr dirty="0" sz="1450" spc="-4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ownership</a:t>
            </a:r>
            <a:r>
              <a:rPr dirty="0" sz="1450" spc="-4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and</a:t>
            </a:r>
            <a:r>
              <a:rPr dirty="0" sz="1450" spc="-4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A1F2B"/>
                </a:solidFill>
                <a:latin typeface="Arial"/>
                <a:cs typeface="Arial"/>
              </a:rPr>
              <a:t>emergency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services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are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not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in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the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top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 15.</a:t>
            </a:r>
            <a:endParaRPr sz="1450">
              <a:latin typeface="Arial"/>
              <a:cs typeface="Arial"/>
            </a:endParaRPr>
          </a:p>
          <a:p>
            <a:pPr algn="just" marL="12700" marR="270510">
              <a:lnSpc>
                <a:spcPct val="112100"/>
              </a:lnSpc>
              <a:spcBef>
                <a:spcPts val="1000"/>
              </a:spcBef>
            </a:pP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Importance</a:t>
            </a:r>
            <a:r>
              <a:rPr dirty="0" sz="1450" spc="-5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shows</a:t>
            </a:r>
            <a:r>
              <a:rPr dirty="0" sz="1450" spc="-5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association,</a:t>
            </a:r>
            <a:r>
              <a:rPr dirty="0" sz="1450" spc="-5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not</a:t>
            </a:r>
            <a:r>
              <a:rPr dirty="0" sz="1450" spc="-5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A1F2B"/>
                </a:solidFill>
                <a:latin typeface="Arial"/>
                <a:cs typeface="Arial"/>
              </a:rPr>
              <a:t>causal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effect,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and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can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favour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features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with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1A1F2B"/>
                </a:solidFill>
                <a:latin typeface="Arial"/>
                <a:cs typeface="Arial"/>
              </a:rPr>
              <a:t>many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split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A1F2B"/>
                </a:solidFill>
                <a:latin typeface="Arial"/>
                <a:cs typeface="Arial"/>
              </a:rPr>
              <a:t>points.</a:t>
            </a:r>
            <a:endParaRPr sz="14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Hospital Star Rating </a:t>
            </a:r>
            <a:r>
              <a:rPr dirty="0" spc="-10"/>
              <a:t>Prediction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10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Ablation</a:t>
            </a:r>
            <a:r>
              <a:rPr dirty="0" spc="-100"/>
              <a:t> </a:t>
            </a:r>
            <a:r>
              <a:rPr dirty="0"/>
              <a:t>and</a:t>
            </a:r>
            <a:r>
              <a:rPr dirty="0" spc="-95"/>
              <a:t> </a:t>
            </a:r>
            <a:r>
              <a:rPr dirty="0"/>
              <a:t>Literature</a:t>
            </a:r>
            <a:r>
              <a:rPr dirty="0" spc="-100"/>
              <a:t> </a:t>
            </a:r>
            <a:r>
              <a:rPr dirty="0" spc="-10"/>
              <a:t>Context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100" y="1282700"/>
            <a:ext cx="54749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1345B"/>
                </a:solidFill>
                <a:latin typeface="Arial"/>
                <a:cs typeface="Arial"/>
              </a:rPr>
              <a:t>Effect</a:t>
            </a:r>
            <a:r>
              <a:rPr dirty="0" sz="1800" spc="-5" b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1345B"/>
                </a:solidFill>
                <a:latin typeface="Arial"/>
                <a:cs typeface="Arial"/>
              </a:rPr>
              <a:t>of</a:t>
            </a:r>
            <a:r>
              <a:rPr dirty="0" sz="1800" spc="-5" b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1345B"/>
                </a:solidFill>
                <a:latin typeface="Arial"/>
                <a:cs typeface="Arial"/>
              </a:rPr>
              <a:t>the engineered</a:t>
            </a:r>
            <a:r>
              <a:rPr dirty="0" sz="1800" spc="-5" b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1345B"/>
                </a:solidFill>
                <a:latin typeface="Arial"/>
                <a:cs typeface="Arial"/>
              </a:rPr>
              <a:t>features (Random</a:t>
            </a:r>
            <a:r>
              <a:rPr dirty="0" sz="1800" spc="-5" b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11345B"/>
                </a:solidFill>
                <a:latin typeface="Arial"/>
                <a:cs typeface="Arial"/>
              </a:rPr>
              <a:t>Forest)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58800" y="1714500"/>
          <a:ext cx="62992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2810"/>
                <a:gridCol w="1907539"/>
                <a:gridCol w="882650"/>
              </a:tblGrid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r>
                        <a:rPr dirty="0" sz="110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11345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5184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Accuracy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1134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11345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Original</a:t>
                      </a:r>
                      <a:r>
                        <a:rPr dirty="0" sz="11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11</a:t>
                      </a:r>
                      <a:r>
                        <a:rPr dirty="0" sz="11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categorical</a:t>
                      </a:r>
                      <a:r>
                        <a:rPr dirty="0" sz="11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features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5184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0.643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0.656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Quality-Safety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Score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count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(13)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D4EFE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5184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0.661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D4E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0.673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T w="6350">
                      <a:solidFill>
                        <a:srgbClr val="CAD4DF"/>
                      </a:solidFill>
                      <a:prstDash val="solid"/>
                    </a:lnT>
                    <a:lnB w="6350">
                      <a:solidFill>
                        <a:srgbClr val="CAD4DF"/>
                      </a:solidFill>
                      <a:prstDash val="solid"/>
                    </a:lnB>
                    <a:solidFill>
                      <a:srgbClr val="D4EFEB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6858000" y="1905000"/>
            <a:ext cx="2159000" cy="1270000"/>
          </a:xfrm>
          <a:custGeom>
            <a:avLst/>
            <a:gdLst/>
            <a:ahLst/>
            <a:cxnLst/>
            <a:rect l="l" t="t" r="r" b="b"/>
            <a:pathLst>
              <a:path w="2159000" h="1270000">
                <a:moveTo>
                  <a:pt x="20574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168400"/>
                </a:lnTo>
                <a:lnTo>
                  <a:pt x="7976" y="1207969"/>
                </a:lnTo>
                <a:lnTo>
                  <a:pt x="29738" y="1240261"/>
                </a:lnTo>
                <a:lnTo>
                  <a:pt x="62030" y="1262023"/>
                </a:lnTo>
                <a:lnTo>
                  <a:pt x="101600" y="1270000"/>
                </a:lnTo>
                <a:lnTo>
                  <a:pt x="2057400" y="1270000"/>
                </a:lnTo>
                <a:lnTo>
                  <a:pt x="2096969" y="1262023"/>
                </a:lnTo>
                <a:lnTo>
                  <a:pt x="2129261" y="1240261"/>
                </a:lnTo>
                <a:lnTo>
                  <a:pt x="2151023" y="1207969"/>
                </a:lnTo>
                <a:lnTo>
                  <a:pt x="2159000" y="1168400"/>
                </a:lnTo>
                <a:lnTo>
                  <a:pt x="2159000" y="101600"/>
                </a:lnTo>
                <a:lnTo>
                  <a:pt x="2151023" y="62030"/>
                </a:lnTo>
                <a:lnTo>
                  <a:pt x="2129261" y="29738"/>
                </a:lnTo>
                <a:lnTo>
                  <a:pt x="2096969" y="7976"/>
                </a:lnTo>
                <a:lnTo>
                  <a:pt x="2057400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439552" y="2000827"/>
            <a:ext cx="996315" cy="74549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dirty="0" sz="3000" spc="-20" b="1">
                <a:solidFill>
                  <a:srgbClr val="1A998A"/>
                </a:solidFill>
                <a:latin typeface="Arial"/>
                <a:cs typeface="Arial"/>
              </a:rPr>
              <a:t>+1.8</a:t>
            </a: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dirty="0" sz="1100">
                <a:solidFill>
                  <a:srgbClr val="495467"/>
                </a:solidFill>
                <a:latin typeface="Arial"/>
                <a:cs typeface="Arial"/>
              </a:rPr>
              <a:t>points</a:t>
            </a:r>
            <a:r>
              <a:rPr dirty="0" sz="1100" spc="-30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95467"/>
                </a:solidFill>
                <a:latin typeface="Arial"/>
                <a:cs typeface="Arial"/>
              </a:rPr>
              <a:t>accuracy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271000" y="1905000"/>
            <a:ext cx="2159000" cy="1270000"/>
          </a:xfrm>
          <a:custGeom>
            <a:avLst/>
            <a:gdLst/>
            <a:ahLst/>
            <a:cxnLst/>
            <a:rect l="l" t="t" r="r" b="b"/>
            <a:pathLst>
              <a:path w="2159000" h="1270000">
                <a:moveTo>
                  <a:pt x="20574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168400"/>
                </a:lnTo>
                <a:lnTo>
                  <a:pt x="7976" y="1207969"/>
                </a:lnTo>
                <a:lnTo>
                  <a:pt x="29738" y="1240261"/>
                </a:lnTo>
                <a:lnTo>
                  <a:pt x="62030" y="1262023"/>
                </a:lnTo>
                <a:lnTo>
                  <a:pt x="101600" y="1270000"/>
                </a:lnTo>
                <a:lnTo>
                  <a:pt x="2057400" y="1270000"/>
                </a:lnTo>
                <a:lnTo>
                  <a:pt x="2096969" y="1262023"/>
                </a:lnTo>
                <a:lnTo>
                  <a:pt x="2129261" y="1240261"/>
                </a:lnTo>
                <a:lnTo>
                  <a:pt x="2151023" y="1207969"/>
                </a:lnTo>
                <a:lnTo>
                  <a:pt x="2159000" y="1168400"/>
                </a:lnTo>
                <a:lnTo>
                  <a:pt x="2159000" y="101600"/>
                </a:lnTo>
                <a:lnTo>
                  <a:pt x="2151023" y="62030"/>
                </a:lnTo>
                <a:lnTo>
                  <a:pt x="2129261" y="29738"/>
                </a:lnTo>
                <a:lnTo>
                  <a:pt x="2096969" y="7976"/>
                </a:lnTo>
                <a:lnTo>
                  <a:pt x="2057400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751548" y="2000827"/>
            <a:ext cx="1198245" cy="74549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dirty="0" sz="3000" spc="-20" b="1">
                <a:solidFill>
                  <a:srgbClr val="DF795E"/>
                </a:solidFill>
                <a:latin typeface="Arial"/>
                <a:cs typeface="Arial"/>
              </a:rPr>
              <a:t>+1.8</a:t>
            </a: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dirty="0" sz="1100">
                <a:solidFill>
                  <a:srgbClr val="495467"/>
                </a:solidFill>
                <a:latin typeface="Arial"/>
                <a:cs typeface="Arial"/>
              </a:rPr>
              <a:t>points</a:t>
            </a:r>
            <a:r>
              <a:rPr dirty="0" sz="1100" spc="-40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95467"/>
                </a:solidFill>
                <a:latin typeface="Arial"/>
                <a:cs typeface="Arial"/>
              </a:rPr>
              <a:t>weighted</a:t>
            </a:r>
            <a:r>
              <a:rPr dirty="0" sz="1100" spc="-35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95467"/>
                </a:solidFill>
                <a:latin typeface="Arial"/>
                <a:cs typeface="Arial"/>
              </a:rPr>
              <a:t>F1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6100" y="2717800"/>
            <a:ext cx="50406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95467"/>
                </a:solidFill>
                <a:latin typeface="Arial"/>
                <a:cs typeface="Arial"/>
              </a:rPr>
              <a:t>Single split with fixed seed: a consistent benefit, but not statistically </a:t>
            </a:r>
            <a:r>
              <a:rPr dirty="0" sz="1200" spc="-10">
                <a:solidFill>
                  <a:srgbClr val="495467"/>
                </a:solidFill>
                <a:latin typeface="Arial"/>
                <a:cs typeface="Arial"/>
              </a:rPr>
              <a:t>tested.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850" y="3956050"/>
            <a:ext cx="88900" cy="889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850" y="4667250"/>
            <a:ext cx="88900" cy="889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850" y="5111750"/>
            <a:ext cx="88900" cy="889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46100" y="3441700"/>
            <a:ext cx="11040745" cy="2103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1345B"/>
                </a:solidFill>
                <a:latin typeface="Arial"/>
                <a:cs typeface="Arial"/>
              </a:rPr>
              <a:t>How</a:t>
            </a:r>
            <a:r>
              <a:rPr dirty="0" sz="1800" spc="-15" b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1345B"/>
                </a:solidFill>
                <a:latin typeface="Arial"/>
                <a:cs typeface="Arial"/>
              </a:rPr>
              <a:t>this</a:t>
            </a:r>
            <a:r>
              <a:rPr dirty="0" sz="1800" spc="-15" b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1345B"/>
                </a:solidFill>
                <a:latin typeface="Arial"/>
                <a:cs typeface="Arial"/>
              </a:rPr>
              <a:t>compares</a:t>
            </a:r>
            <a:r>
              <a:rPr dirty="0" sz="1800" spc="-15" b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1345B"/>
                </a:solidFill>
                <a:latin typeface="Arial"/>
                <a:cs typeface="Arial"/>
              </a:rPr>
              <a:t>with</a:t>
            </a:r>
            <a:r>
              <a:rPr dirty="0" sz="1800" spc="-15" b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1345B"/>
                </a:solidFill>
                <a:latin typeface="Arial"/>
                <a:cs typeface="Arial"/>
              </a:rPr>
              <a:t>prior</a:t>
            </a:r>
            <a:r>
              <a:rPr dirty="0" sz="1800" spc="-15" b="1">
                <a:solidFill>
                  <a:srgbClr val="11345B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11345B"/>
                </a:solidFill>
                <a:latin typeface="Arial"/>
                <a:cs typeface="Arial"/>
              </a:rPr>
              <a:t>work</a:t>
            </a:r>
            <a:endParaRPr sz="1800">
              <a:latin typeface="Arial"/>
              <a:cs typeface="Arial"/>
            </a:endParaRPr>
          </a:p>
          <a:p>
            <a:pPr marL="266700" marR="5080">
              <a:lnSpc>
                <a:spcPct val="112900"/>
              </a:lnSpc>
              <a:spcBef>
                <a:spcPts val="900"/>
              </a:spcBef>
            </a:pPr>
            <a:r>
              <a:rPr dirty="0" sz="1550" b="1">
                <a:solidFill>
                  <a:srgbClr val="1A1F2B"/>
                </a:solidFill>
                <a:latin typeface="Arial"/>
                <a:cs typeface="Arial"/>
              </a:rPr>
              <a:t>Locey</a:t>
            </a:r>
            <a:r>
              <a:rPr dirty="0" sz="1550" spc="-15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A1F2B"/>
                </a:solidFill>
                <a:latin typeface="Arial"/>
                <a:cs typeface="Arial"/>
              </a:rPr>
              <a:t>et</a:t>
            </a:r>
            <a:r>
              <a:rPr dirty="0" sz="1550" spc="-15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A1F2B"/>
                </a:solidFill>
                <a:latin typeface="Arial"/>
                <a:cs typeface="Arial"/>
              </a:rPr>
              <a:t>al.</a:t>
            </a:r>
            <a:r>
              <a:rPr dirty="0" sz="1550" spc="-10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reproduced</a:t>
            </a:r>
            <a:r>
              <a:rPr dirty="0" sz="155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the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CMS</a:t>
            </a:r>
            <a:r>
              <a:rPr dirty="0" sz="155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rating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with</a:t>
            </a:r>
            <a:r>
              <a:rPr dirty="0" sz="155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99.6%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accuracy</a:t>
            </a:r>
            <a:r>
              <a:rPr dirty="0" sz="155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using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full</a:t>
            </a:r>
            <a:r>
              <a:rPr dirty="0" sz="155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numeric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measures.</a:t>
            </a:r>
            <a:r>
              <a:rPr dirty="0" sz="155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Our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~66%</a:t>
            </a:r>
            <a:r>
              <a:rPr dirty="0" sz="155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reflects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having</a:t>
            </a:r>
            <a:r>
              <a:rPr dirty="0" sz="155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only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1A1F2B"/>
                </a:solidFill>
                <a:latin typeface="Arial"/>
                <a:cs typeface="Arial"/>
              </a:rPr>
              <a:t>7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coarse 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categories.</a:t>
            </a:r>
            <a:endParaRPr sz="155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  <a:spcBef>
                <a:spcPts val="1639"/>
              </a:spcBef>
            </a:pPr>
            <a:r>
              <a:rPr dirty="0" sz="1550" b="1">
                <a:solidFill>
                  <a:srgbClr val="1A1F2B"/>
                </a:solidFill>
                <a:latin typeface="Arial"/>
                <a:cs typeface="Arial"/>
              </a:rPr>
              <a:t>Kurian</a:t>
            </a:r>
            <a:r>
              <a:rPr dirty="0" sz="1550" spc="-25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A1F2B"/>
                </a:solidFill>
                <a:latin typeface="Arial"/>
                <a:cs typeface="Arial"/>
              </a:rPr>
              <a:t>et</a:t>
            </a:r>
            <a:r>
              <a:rPr dirty="0" sz="1550" spc="-25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A1F2B"/>
                </a:solidFill>
                <a:latin typeface="Arial"/>
                <a:cs typeface="Arial"/>
              </a:rPr>
              <a:t>al.</a:t>
            </a:r>
            <a:r>
              <a:rPr dirty="0" sz="1550" spc="-25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used</a:t>
            </a:r>
            <a:r>
              <a:rPr dirty="0" sz="15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ordered</a:t>
            </a:r>
            <a:r>
              <a:rPr dirty="0" sz="15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logistic</a:t>
            </a:r>
            <a:r>
              <a:rPr dirty="0" sz="15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regression;</a:t>
            </a:r>
            <a:r>
              <a:rPr dirty="0" sz="15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our</a:t>
            </a:r>
            <a:r>
              <a:rPr dirty="0" sz="15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regularised</a:t>
            </a:r>
            <a:r>
              <a:rPr dirty="0" sz="15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linear</a:t>
            </a:r>
            <a:r>
              <a:rPr dirty="0" sz="15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model</a:t>
            </a:r>
            <a:r>
              <a:rPr dirty="0" sz="15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is</a:t>
            </a:r>
            <a:r>
              <a:rPr dirty="0" sz="15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analogous.</a:t>
            </a:r>
            <a:endParaRPr sz="1550">
              <a:latin typeface="Arial"/>
              <a:cs typeface="Arial"/>
            </a:endParaRPr>
          </a:p>
          <a:p>
            <a:pPr marL="266700" marR="48895">
              <a:lnSpc>
                <a:spcPct val="112900"/>
              </a:lnSpc>
              <a:spcBef>
                <a:spcPts val="1400"/>
              </a:spcBef>
            </a:pPr>
            <a:r>
              <a:rPr dirty="0" sz="1550" b="1">
                <a:solidFill>
                  <a:srgbClr val="1A1F2B"/>
                </a:solidFill>
                <a:latin typeface="Arial"/>
                <a:cs typeface="Arial"/>
              </a:rPr>
              <a:t>Tabular-data</a:t>
            </a:r>
            <a:r>
              <a:rPr dirty="0" sz="1550" spc="-15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A1F2B"/>
                </a:solidFill>
                <a:latin typeface="Arial"/>
                <a:cs typeface="Arial"/>
              </a:rPr>
              <a:t>studies</a:t>
            </a:r>
            <a:r>
              <a:rPr dirty="0" sz="1550" spc="-10" b="1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favour</a:t>
            </a:r>
            <a:r>
              <a:rPr dirty="0" sz="155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trees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and</a:t>
            </a:r>
            <a:r>
              <a:rPr dirty="0" sz="155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linear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models</a:t>
            </a:r>
            <a:r>
              <a:rPr dirty="0" sz="155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at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~3.6k</a:t>
            </a:r>
            <a:r>
              <a:rPr dirty="0" sz="155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samples;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a</a:t>
            </a:r>
            <a:r>
              <a:rPr dirty="0" sz="155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linear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model</a:t>
            </a:r>
            <a:r>
              <a:rPr dirty="0" sz="155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matching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a</a:t>
            </a:r>
            <a:r>
              <a:rPr dirty="0" sz="155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300-tree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forest</a:t>
            </a:r>
            <a:r>
              <a:rPr dirty="0" sz="1550" spc="-1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suggests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the</a:t>
            </a:r>
            <a:r>
              <a:rPr dirty="0" sz="15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ordinal</a:t>
            </a:r>
            <a:r>
              <a:rPr dirty="0" sz="15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relationships</a:t>
            </a:r>
            <a:r>
              <a:rPr dirty="0" sz="15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are</a:t>
            </a:r>
            <a:r>
              <a:rPr dirty="0" sz="15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A1F2B"/>
                </a:solidFill>
                <a:latin typeface="Arial"/>
                <a:cs typeface="Arial"/>
              </a:rPr>
              <a:t>fairly</a:t>
            </a:r>
            <a:r>
              <a:rPr dirty="0" sz="15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1A1F2B"/>
                </a:solidFill>
                <a:latin typeface="Arial"/>
                <a:cs typeface="Arial"/>
              </a:rPr>
              <a:t>linear.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Hospital Star Rating </a:t>
            </a:r>
            <a:r>
              <a:rPr dirty="0" spc="-10"/>
              <a:t>Prediction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10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Limitations</a:t>
            </a:r>
            <a:r>
              <a:rPr dirty="0" spc="-100"/>
              <a:t> </a:t>
            </a:r>
            <a:r>
              <a:rPr dirty="0"/>
              <a:t>and</a:t>
            </a:r>
            <a:r>
              <a:rPr dirty="0" spc="-100"/>
              <a:t> </a:t>
            </a:r>
            <a:r>
              <a:rPr dirty="0" spc="-10"/>
              <a:t>Conclusion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58800" y="1524000"/>
            <a:ext cx="5334000" cy="4572000"/>
            <a:chOff x="558800" y="1524000"/>
            <a:chExt cx="5334000" cy="4572000"/>
          </a:xfrm>
        </p:grpSpPr>
        <p:sp>
          <p:nvSpPr>
            <p:cNvPr id="4" name="object 4"/>
            <p:cNvSpPr/>
            <p:nvPr/>
          </p:nvSpPr>
          <p:spPr>
            <a:xfrm>
              <a:off x="558800" y="1524000"/>
              <a:ext cx="5334000" cy="4572000"/>
            </a:xfrm>
            <a:custGeom>
              <a:avLst/>
              <a:gdLst/>
              <a:ahLst/>
              <a:cxnLst/>
              <a:rect l="l" t="t" r="r" b="b"/>
              <a:pathLst>
                <a:path w="5334000" h="4572000">
                  <a:moveTo>
                    <a:pt x="5207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4445000"/>
                  </a:lnTo>
                  <a:lnTo>
                    <a:pt x="9971" y="4494461"/>
                  </a:lnTo>
                  <a:lnTo>
                    <a:pt x="37172" y="4534827"/>
                  </a:lnTo>
                  <a:lnTo>
                    <a:pt x="77538" y="4562028"/>
                  </a:lnTo>
                  <a:lnTo>
                    <a:pt x="127000" y="4572000"/>
                  </a:lnTo>
                  <a:lnTo>
                    <a:pt x="5207000" y="4572000"/>
                  </a:lnTo>
                  <a:lnTo>
                    <a:pt x="5256461" y="4562028"/>
                  </a:lnTo>
                  <a:lnTo>
                    <a:pt x="5296827" y="4534827"/>
                  </a:lnTo>
                  <a:lnTo>
                    <a:pt x="5324028" y="4494461"/>
                  </a:lnTo>
                  <a:lnTo>
                    <a:pt x="5334000" y="4445000"/>
                  </a:lnTo>
                  <a:lnTo>
                    <a:pt x="5334000" y="127000"/>
                  </a:lnTo>
                  <a:lnTo>
                    <a:pt x="5324028" y="77538"/>
                  </a:lnTo>
                  <a:lnTo>
                    <a:pt x="5296827" y="37172"/>
                  </a:lnTo>
                  <a:lnTo>
                    <a:pt x="5256461" y="9971"/>
                  </a:lnTo>
                  <a:lnTo>
                    <a:pt x="5207000" y="0"/>
                  </a:lnTo>
                  <a:close/>
                </a:path>
              </a:pathLst>
            </a:custGeom>
            <a:solidFill>
              <a:srgbClr val="F2F6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1850" y="2178050"/>
              <a:ext cx="88900" cy="889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1850" y="2825750"/>
              <a:ext cx="88900" cy="889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1850" y="3473450"/>
              <a:ext cx="88900" cy="889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1850" y="4121150"/>
              <a:ext cx="88900" cy="889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00100" y="1663700"/>
            <a:ext cx="4763135" cy="3103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DF795E"/>
                </a:solidFill>
                <a:latin typeface="Arial"/>
                <a:cs typeface="Arial"/>
              </a:rPr>
              <a:t>Limitations</a:t>
            </a:r>
            <a:r>
              <a:rPr dirty="0" sz="1800" spc="-20" b="1">
                <a:solidFill>
                  <a:srgbClr val="DF795E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DF795E"/>
                </a:solidFill>
                <a:latin typeface="Arial"/>
                <a:cs typeface="Arial"/>
              </a:rPr>
              <a:t>and</a:t>
            </a:r>
            <a:r>
              <a:rPr dirty="0" sz="1800" spc="-15" b="1">
                <a:solidFill>
                  <a:srgbClr val="DF795E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DF795E"/>
                </a:solidFill>
                <a:latin typeface="Arial"/>
                <a:cs typeface="Arial"/>
              </a:rPr>
              <a:t>future</a:t>
            </a:r>
            <a:r>
              <a:rPr dirty="0" sz="1800" spc="-20" b="1">
                <a:solidFill>
                  <a:srgbClr val="DF795E"/>
                </a:solidFill>
                <a:latin typeface="Arial"/>
                <a:cs typeface="Arial"/>
              </a:rPr>
              <a:t> work</a:t>
            </a:r>
            <a:endParaRPr sz="1800">
              <a:latin typeface="Arial"/>
              <a:cs typeface="Arial"/>
            </a:endParaRPr>
          </a:p>
          <a:p>
            <a:pPr marL="266700" marR="312420">
              <a:lnSpc>
                <a:spcPct val="112100"/>
              </a:lnSpc>
              <a:spcBef>
                <a:spcPts val="930"/>
              </a:spcBef>
            </a:pP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One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stratified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split;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no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A1F2B"/>
                </a:solidFill>
                <a:latin typeface="Arial"/>
                <a:cs typeface="Arial"/>
              </a:rPr>
              <a:t>cross-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validation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or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tuning,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so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small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gaps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are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not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A1F2B"/>
                </a:solidFill>
                <a:latin typeface="Arial"/>
                <a:cs typeface="Arial"/>
              </a:rPr>
              <a:t>meaningful.</a:t>
            </a:r>
            <a:endParaRPr sz="1450">
              <a:latin typeface="Arial"/>
              <a:cs typeface="Arial"/>
            </a:endParaRPr>
          </a:p>
          <a:p>
            <a:pPr marL="266700" marR="34925">
              <a:lnSpc>
                <a:spcPct val="112100"/>
              </a:lnSpc>
              <a:spcBef>
                <a:spcPts val="1195"/>
              </a:spcBef>
            </a:pP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1,245</a:t>
            </a:r>
            <a:r>
              <a:rPr dirty="0" sz="1450" spc="-4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unrated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hospitals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omitted;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one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U.S.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data</a:t>
            </a:r>
            <a:r>
              <a:rPr dirty="0" sz="1450" spc="-3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A1F2B"/>
                </a:solidFill>
                <a:latin typeface="Arial"/>
                <a:cs typeface="Arial"/>
              </a:rPr>
              <a:t>release only.</a:t>
            </a:r>
            <a:endParaRPr sz="1450">
              <a:latin typeface="Arial"/>
              <a:cs typeface="Arial"/>
            </a:endParaRPr>
          </a:p>
          <a:p>
            <a:pPr marL="266700" marR="5080">
              <a:lnSpc>
                <a:spcPct val="112100"/>
              </a:lnSpc>
              <a:spcBef>
                <a:spcPts val="1200"/>
              </a:spcBef>
            </a:pP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Engineered</a:t>
            </a:r>
            <a:r>
              <a:rPr dirty="0" sz="1450" spc="-5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score</a:t>
            </a:r>
            <a:r>
              <a:rPr dirty="0" sz="1450" spc="-5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compresses</a:t>
            </a:r>
            <a:r>
              <a:rPr dirty="0" sz="1450" spc="-4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the</a:t>
            </a:r>
            <a:r>
              <a:rPr dirty="0" sz="1450" spc="-5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same</a:t>
            </a:r>
            <a:r>
              <a:rPr dirty="0" sz="1450" spc="-4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labels,</a:t>
            </a:r>
            <a:r>
              <a:rPr dirty="0" sz="1450" spc="-5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A1F2B"/>
                </a:solidFill>
                <a:latin typeface="Arial"/>
                <a:cs typeface="Arial"/>
              </a:rPr>
              <a:t>adding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no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new</a:t>
            </a:r>
            <a:r>
              <a:rPr dirty="0" sz="1450" spc="-2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A1F2B"/>
                </a:solidFill>
                <a:latin typeface="Arial"/>
                <a:cs typeface="Arial"/>
              </a:rPr>
              <a:t>information.</a:t>
            </a:r>
            <a:endParaRPr sz="1450">
              <a:latin typeface="Arial"/>
              <a:cs typeface="Arial"/>
            </a:endParaRPr>
          </a:p>
          <a:p>
            <a:pPr marL="266700" marR="374015">
              <a:lnSpc>
                <a:spcPct val="112100"/>
              </a:lnSpc>
              <a:spcBef>
                <a:spcPts val="1200"/>
              </a:spcBef>
            </a:pP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Next: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A1F2B"/>
                </a:solidFill>
                <a:latin typeface="Arial"/>
                <a:cs typeface="Arial"/>
              </a:rPr>
              <a:t>k-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fold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CV,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ordinal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and</a:t>
            </a:r>
            <a:r>
              <a:rPr dirty="0" sz="1450" spc="-2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A1F2B"/>
                </a:solidFill>
                <a:latin typeface="Arial"/>
                <a:cs typeface="Arial"/>
              </a:rPr>
              <a:t>cost-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sensitive</a:t>
            </a:r>
            <a:r>
              <a:rPr dirty="0" sz="1450" spc="-3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A1F2B"/>
                </a:solidFill>
                <a:latin typeface="Arial"/>
                <a:cs typeface="Arial"/>
              </a:rPr>
              <a:t>models,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gradient</a:t>
            </a:r>
            <a:r>
              <a:rPr dirty="0" sz="1450" spc="-5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boosting,</a:t>
            </a:r>
            <a:r>
              <a:rPr dirty="0" sz="1450" spc="-4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calibration,</a:t>
            </a:r>
            <a:r>
              <a:rPr dirty="0" sz="1450" spc="-4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1A1F2B"/>
                </a:solidFill>
                <a:latin typeface="Arial"/>
                <a:cs typeface="Arial"/>
              </a:rPr>
              <a:t>SHAP,</a:t>
            </a:r>
            <a:r>
              <a:rPr dirty="0" sz="1450" spc="-45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1A1F2B"/>
                </a:solidFill>
                <a:latin typeface="Arial"/>
                <a:cs typeface="Arial"/>
              </a:rPr>
              <a:t>numeric indicators.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99200" y="1524000"/>
            <a:ext cx="5334000" cy="4572000"/>
            <a:chOff x="6299200" y="1524000"/>
            <a:chExt cx="5334000" cy="4572000"/>
          </a:xfrm>
        </p:grpSpPr>
        <p:sp>
          <p:nvSpPr>
            <p:cNvPr id="11" name="object 11"/>
            <p:cNvSpPr/>
            <p:nvPr/>
          </p:nvSpPr>
          <p:spPr>
            <a:xfrm>
              <a:off x="6299200" y="1524000"/>
              <a:ext cx="5334000" cy="4572000"/>
            </a:xfrm>
            <a:custGeom>
              <a:avLst/>
              <a:gdLst/>
              <a:ahLst/>
              <a:cxnLst/>
              <a:rect l="l" t="t" r="r" b="b"/>
              <a:pathLst>
                <a:path w="5334000" h="4572000">
                  <a:moveTo>
                    <a:pt x="5207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4445000"/>
                  </a:lnTo>
                  <a:lnTo>
                    <a:pt x="9971" y="4494461"/>
                  </a:lnTo>
                  <a:lnTo>
                    <a:pt x="37172" y="4534827"/>
                  </a:lnTo>
                  <a:lnTo>
                    <a:pt x="77538" y="4562028"/>
                  </a:lnTo>
                  <a:lnTo>
                    <a:pt x="127000" y="4572000"/>
                  </a:lnTo>
                  <a:lnTo>
                    <a:pt x="5207000" y="4572000"/>
                  </a:lnTo>
                  <a:lnTo>
                    <a:pt x="5256461" y="4562028"/>
                  </a:lnTo>
                  <a:lnTo>
                    <a:pt x="5296827" y="4534827"/>
                  </a:lnTo>
                  <a:lnTo>
                    <a:pt x="5324028" y="4494461"/>
                  </a:lnTo>
                  <a:lnTo>
                    <a:pt x="5334000" y="4445000"/>
                  </a:lnTo>
                  <a:lnTo>
                    <a:pt x="5334000" y="127000"/>
                  </a:lnTo>
                  <a:lnTo>
                    <a:pt x="5324028" y="77538"/>
                  </a:lnTo>
                  <a:lnTo>
                    <a:pt x="5296827" y="37172"/>
                  </a:lnTo>
                  <a:lnTo>
                    <a:pt x="5256461" y="9971"/>
                  </a:lnTo>
                  <a:lnTo>
                    <a:pt x="5207000" y="0"/>
                  </a:lnTo>
                  <a:close/>
                </a:path>
              </a:pathLst>
            </a:custGeom>
            <a:solidFill>
              <a:srgbClr val="1134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9550" y="2178050"/>
              <a:ext cx="88900" cy="889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9550" y="2825750"/>
              <a:ext cx="88900" cy="889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9550" y="3733800"/>
              <a:ext cx="88900" cy="889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9550" y="4381500"/>
              <a:ext cx="88900" cy="889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540500" y="1663700"/>
            <a:ext cx="4851400" cy="313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Conclusion</a:t>
            </a:r>
            <a:endParaRPr sz="1800">
              <a:latin typeface="Arial"/>
              <a:cs typeface="Arial"/>
            </a:endParaRPr>
          </a:p>
          <a:p>
            <a:pPr marL="266700" marR="203200">
              <a:lnSpc>
                <a:spcPct val="113900"/>
              </a:lnSpc>
              <a:spcBef>
                <a:spcPts val="890"/>
              </a:spcBef>
            </a:pP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5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leakage-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free</a:t>
            </a:r>
            <a:r>
              <a:rPr dirty="0" sz="15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pipeline</a:t>
            </a:r>
            <a:r>
              <a:rPr dirty="0" sz="15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predicts</a:t>
            </a:r>
            <a:r>
              <a:rPr dirty="0" sz="15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hospital</a:t>
            </a:r>
            <a:r>
              <a:rPr dirty="0" sz="15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star</a:t>
            </a:r>
            <a:r>
              <a:rPr dirty="0" sz="15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ratings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5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coarse</a:t>
            </a:r>
            <a:r>
              <a:rPr dirty="0" sz="15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dirty="0" sz="15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5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safety</a:t>
            </a:r>
            <a:r>
              <a:rPr dirty="0" sz="15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categories.</a:t>
            </a:r>
            <a:endParaRPr sz="1500">
              <a:latin typeface="Arial"/>
              <a:cs typeface="Arial"/>
            </a:endParaRPr>
          </a:p>
          <a:p>
            <a:pPr marL="266700" marR="5080">
              <a:lnSpc>
                <a:spcPct val="113900"/>
              </a:lnSpc>
              <a:spcBef>
                <a:spcPts val="10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Logistic</a:t>
            </a:r>
            <a:r>
              <a:rPr dirty="0" sz="15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dirty="0" sz="15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(66.4%,</a:t>
            </a:r>
            <a:r>
              <a:rPr dirty="0" sz="15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F1</a:t>
            </a:r>
            <a:r>
              <a:rPr dirty="0" sz="15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0.678)</a:t>
            </a:r>
            <a:r>
              <a:rPr dirty="0" sz="15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Random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Forest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(66.1%,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F1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0.673)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clearly</a:t>
            </a:r>
            <a:r>
              <a:rPr dirty="0" sz="15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beat</a:t>
            </a:r>
            <a:r>
              <a:rPr dirty="0" sz="15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Decision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Tree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(58.8%)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majority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baseline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(49.4%).</a:t>
            </a:r>
            <a:endParaRPr sz="1500">
              <a:latin typeface="Arial"/>
              <a:cs typeface="Arial"/>
            </a:endParaRPr>
          </a:p>
          <a:p>
            <a:pPr marL="266700" marR="563880">
              <a:lnSpc>
                <a:spcPct val="113900"/>
              </a:lnSpc>
              <a:spcBef>
                <a:spcPts val="1000"/>
              </a:spcBef>
            </a:pP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Errors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fall</a:t>
            </a:r>
            <a:r>
              <a:rPr dirty="0" sz="15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mainly</a:t>
            </a:r>
            <a:r>
              <a:rPr dirty="0" sz="15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between</a:t>
            </a:r>
            <a:r>
              <a:rPr dirty="0" sz="15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adjacent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star</a:t>
            </a:r>
            <a:r>
              <a:rPr dirty="0" sz="15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ratings;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extreme</a:t>
            </a:r>
            <a:r>
              <a:rPr dirty="0" sz="15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ratings</a:t>
            </a:r>
            <a:r>
              <a:rPr dirty="0" sz="15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remain</a:t>
            </a:r>
            <a:r>
              <a:rPr dirty="0" sz="15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hard.</a:t>
            </a:r>
            <a:endParaRPr sz="1500">
              <a:latin typeface="Arial"/>
              <a:cs typeface="Arial"/>
            </a:endParaRPr>
          </a:p>
          <a:p>
            <a:pPr marL="266700" marR="627380">
              <a:lnSpc>
                <a:spcPct val="113900"/>
              </a:lnSpc>
              <a:spcBef>
                <a:spcPts val="1000"/>
              </a:spcBef>
            </a:pP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Quality-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Safety</a:t>
            </a:r>
            <a:r>
              <a:rPr dirty="0" sz="15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Score</a:t>
            </a:r>
            <a:r>
              <a:rPr dirty="0" sz="15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5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most</a:t>
            </a:r>
            <a:r>
              <a:rPr dirty="0" sz="15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important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feature</a:t>
            </a:r>
            <a:r>
              <a:rPr dirty="0" sz="15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5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lifts</a:t>
            </a:r>
            <a:r>
              <a:rPr dirty="0" sz="15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accuracy.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Hospital Star Rating </a:t>
            </a:r>
            <a:r>
              <a:rPr dirty="0" spc="-10"/>
              <a:t>Prediction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10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anonymous</dc:creator>
  <dc:subject>unspecified</dc:subject>
  <dc:title>Predicting Hospital Star Ratings from Quality and Safety Indicators</dc:title>
  <dcterms:created xsi:type="dcterms:W3CDTF">2026-10-23T18:43:33Z</dcterms:created>
  <dcterms:modified xsi:type="dcterms:W3CDTF">2026-10-23T18:43:33Z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2026-10-23T00:00:00Z</vt:filetime>
  </property>
  <property fmtid="{D5CDD505-2E9C-101B-9397-08002B2CF9AE}" pid="4" name="Creator">
    <vt:lpwstr>anonymous</vt:lpwstr>
  </property>
  <property fmtid="{D5CDD505-2E9C-101B-9397-08002B2CF9AE}" pid="5" name="LastSaved">
    <vt:filetime>2026-10-23T00:00:00Z</vt:filetime>
  </property>
  <property fmtid="{D5CDD505-2E9C-101B-9397-08002B2CF9AE}" pid="6" name="Producer">
    <vt:lpwstr>ReportLab PDF Library - (opensource)</vt:lpwstr>
  </property>
</Properties>
</file>